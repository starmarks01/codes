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Prata"/>
      <p:regular r:id="rId16"/>
    </p:embeddedFont>
    <p:embeddedFont>
      <p:font typeface="Raleway"/>
      <p:regular r:id="rId17"/>
    </p:embeddedFont>
    <p:embeddedFont>
      <p:font typeface="Raleway"/>
      <p:regular r:id="rId18"/>
    </p:embeddedFont>
    <p:embeddedFont>
      <p:font typeface="Raleway"/>
      <p:regular r:id="rId19"/>
    </p:embeddedFont>
    <p:embeddedFont>
      <p:font typeface="Raleway"/>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50437" y="1877378"/>
            <a:ext cx="7415927" cy="2129314"/>
          </a:xfrm>
          <a:prstGeom prst="rect">
            <a:avLst/>
          </a:prstGeom>
          <a:noFill/>
          <a:ln/>
        </p:spPr>
        <p:txBody>
          <a:bodyPr wrap="square" lIns="0" tIns="0" rIns="0" bIns="0" rtlCol="0" anchor="t"/>
          <a:lstStyle/>
          <a:p>
            <a:pPr indent="0" marL="0">
              <a:lnSpc>
                <a:spcPts val="8350"/>
              </a:lnSpc>
              <a:buNone/>
            </a:pPr>
            <a:r>
              <a:rPr lang="en-US" sz="6700" dirty="0">
                <a:solidFill>
                  <a:srgbClr val="F2E782"/>
                </a:solidFill>
                <a:latin typeface="Prata" pitchFamily="34" charset="0"/>
                <a:ea typeface="Prata" pitchFamily="34" charset="-122"/>
                <a:cs typeface="Prata" pitchFamily="34" charset="-120"/>
              </a:rPr>
              <a:t>Introduction to Laser Technology</a:t>
            </a:r>
            <a:endParaRPr lang="en-US" sz="6700" dirty="0"/>
          </a:p>
        </p:txBody>
      </p:sp>
      <p:sp>
        <p:nvSpPr>
          <p:cNvPr id="4" name="Text 1"/>
          <p:cNvSpPr/>
          <p:nvPr/>
        </p:nvSpPr>
        <p:spPr>
          <a:xfrm>
            <a:off x="6350437" y="4376976"/>
            <a:ext cx="7415927" cy="1975247"/>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 Lasers are powerful devices that emit highly focused, coherent beams of light. They have revolutionized numerous industries and applications, from communication to medical treatments. This presentation will explore the fundamentals of laser operation and its diverse real-world uses.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alpha val="80000"/>
            </a:srgbClr>
          </a:solidFill>
          <a:ln/>
        </p:spPr>
      </p:sp>
      <p:sp>
        <p:nvSpPr>
          <p:cNvPr id="4" name="Text 1"/>
          <p:cNvSpPr/>
          <p:nvPr/>
        </p:nvSpPr>
        <p:spPr>
          <a:xfrm>
            <a:off x="864037" y="713899"/>
            <a:ext cx="10058876" cy="771525"/>
          </a:xfrm>
          <a:prstGeom prst="rect">
            <a:avLst/>
          </a:prstGeom>
          <a:noFill/>
          <a:ln/>
        </p:spPr>
        <p:txBody>
          <a:bodyPr wrap="none" lIns="0" tIns="0" rIns="0" bIns="0" rtlCol="0" anchor="t"/>
          <a:lstStyle/>
          <a:p>
            <a:pPr indent="0" marL="0">
              <a:lnSpc>
                <a:spcPts val="6050"/>
              </a:lnSpc>
              <a:buNone/>
            </a:pPr>
            <a:r>
              <a:rPr lang="en-US" sz="4850" dirty="0">
                <a:solidFill>
                  <a:srgbClr val="F2E782"/>
                </a:solidFill>
                <a:latin typeface="Prata" pitchFamily="34" charset="0"/>
                <a:ea typeface="Prata" pitchFamily="34" charset="-122"/>
                <a:cs typeface="Prata" pitchFamily="34" charset="-120"/>
              </a:rPr>
              <a:t>Fundamentals of Laser Operation</a:t>
            </a:r>
            <a:endParaRPr lang="en-US" sz="4850" dirty="0"/>
          </a:p>
        </p:txBody>
      </p:sp>
      <p:sp>
        <p:nvSpPr>
          <p:cNvPr id="5" name="Shape 2"/>
          <p:cNvSpPr/>
          <p:nvPr/>
        </p:nvSpPr>
        <p:spPr>
          <a:xfrm>
            <a:off x="864037" y="4685705"/>
            <a:ext cx="12902327" cy="30480"/>
          </a:xfrm>
          <a:prstGeom prst="roundRect">
            <a:avLst>
              <a:gd name="adj" fmla="val 121500"/>
            </a:avLst>
          </a:prstGeom>
          <a:solidFill>
            <a:srgbClr val="535455"/>
          </a:solidFill>
          <a:ln/>
        </p:spPr>
      </p:sp>
      <p:sp>
        <p:nvSpPr>
          <p:cNvPr id="6" name="Shape 3"/>
          <p:cNvSpPr/>
          <p:nvPr/>
        </p:nvSpPr>
        <p:spPr>
          <a:xfrm>
            <a:off x="4012525" y="3821728"/>
            <a:ext cx="30480" cy="864037"/>
          </a:xfrm>
          <a:prstGeom prst="roundRect">
            <a:avLst>
              <a:gd name="adj" fmla="val 121500"/>
            </a:avLst>
          </a:prstGeom>
          <a:solidFill>
            <a:srgbClr val="535455"/>
          </a:solidFill>
          <a:ln/>
        </p:spPr>
      </p:sp>
      <p:sp>
        <p:nvSpPr>
          <p:cNvPr id="7" name="Shape 4"/>
          <p:cNvSpPr/>
          <p:nvPr/>
        </p:nvSpPr>
        <p:spPr>
          <a:xfrm>
            <a:off x="3750112" y="4407991"/>
            <a:ext cx="555427" cy="555427"/>
          </a:xfrm>
          <a:prstGeom prst="roundRect">
            <a:avLst>
              <a:gd name="adj" fmla="val 6668"/>
            </a:avLst>
          </a:prstGeom>
          <a:solidFill>
            <a:srgbClr val="3A3B3C"/>
          </a:solidFill>
          <a:ln/>
        </p:spPr>
      </p:sp>
      <p:sp>
        <p:nvSpPr>
          <p:cNvPr id="8" name="Text 5"/>
          <p:cNvSpPr/>
          <p:nvPr/>
        </p:nvSpPr>
        <p:spPr>
          <a:xfrm>
            <a:off x="3963948" y="4500503"/>
            <a:ext cx="127754" cy="370284"/>
          </a:xfrm>
          <a:prstGeom prst="rect">
            <a:avLst/>
          </a:prstGeom>
          <a:noFill/>
          <a:ln/>
        </p:spPr>
        <p:txBody>
          <a:bodyPr wrap="none" lIns="0" tIns="0" rIns="0" bIns="0" rtlCol="0" anchor="t"/>
          <a:lstStyle/>
          <a:p>
            <a:pPr algn="ctr" indent="0" marL="0">
              <a:lnSpc>
                <a:spcPts val="2900"/>
              </a:lnSpc>
              <a:buNone/>
            </a:pPr>
            <a:r>
              <a:rPr lang="en-US" sz="2900" dirty="0">
                <a:solidFill>
                  <a:srgbClr val="CFCBBF"/>
                </a:solidFill>
                <a:latin typeface="Prata" pitchFamily="34" charset="0"/>
                <a:ea typeface="Prata" pitchFamily="34" charset="-122"/>
                <a:cs typeface="Prata" pitchFamily="34" charset="-120"/>
              </a:rPr>
              <a:t>1</a:t>
            </a:r>
            <a:endParaRPr lang="en-US" sz="2900" dirty="0"/>
          </a:p>
        </p:txBody>
      </p:sp>
      <p:sp>
        <p:nvSpPr>
          <p:cNvPr id="9" name="Text 6"/>
          <p:cNvSpPr/>
          <p:nvPr/>
        </p:nvSpPr>
        <p:spPr>
          <a:xfrm>
            <a:off x="2484834" y="1855708"/>
            <a:ext cx="3086100" cy="385763"/>
          </a:xfrm>
          <a:prstGeom prst="rect">
            <a:avLst/>
          </a:prstGeom>
          <a:noFill/>
          <a:ln/>
        </p:spPr>
        <p:txBody>
          <a:bodyPr wrap="none" lIns="0" tIns="0" rIns="0" bIns="0" rtlCol="0" anchor="t"/>
          <a:lstStyle/>
          <a:p>
            <a:pPr algn="ctr" indent="0" marL="0">
              <a:lnSpc>
                <a:spcPts val="3000"/>
              </a:lnSpc>
              <a:buNone/>
            </a:pPr>
            <a:r>
              <a:rPr lang="en-US" sz="2400" dirty="0">
                <a:solidFill>
                  <a:srgbClr val="CFCBBF"/>
                </a:solidFill>
                <a:latin typeface="Prata" pitchFamily="34" charset="0"/>
                <a:ea typeface="Prata" pitchFamily="34" charset="-122"/>
                <a:cs typeface="Prata" pitchFamily="34" charset="-120"/>
              </a:rPr>
              <a:t>Stimulated Emission</a:t>
            </a:r>
            <a:endParaRPr lang="en-US" sz="2400" dirty="0"/>
          </a:p>
        </p:txBody>
      </p:sp>
      <p:sp>
        <p:nvSpPr>
          <p:cNvPr id="10" name="Text 7"/>
          <p:cNvSpPr/>
          <p:nvPr/>
        </p:nvSpPr>
        <p:spPr>
          <a:xfrm>
            <a:off x="1110853" y="2389584"/>
            <a:ext cx="5834063" cy="1185148"/>
          </a:xfrm>
          <a:prstGeom prst="rect">
            <a:avLst/>
          </a:prstGeom>
          <a:noFill/>
          <a:ln/>
        </p:spPr>
        <p:txBody>
          <a:bodyPr wrap="square" lIns="0" tIns="0" rIns="0" bIns="0" rtlCol="0" anchor="t"/>
          <a:lstStyle/>
          <a:p>
            <a:pPr algn="ctr"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work by stimulating the emission of photons from energized atoms, creating a highly focused, monochromatic beam of light.</a:t>
            </a:r>
            <a:endParaRPr lang="en-US" sz="1900" dirty="0"/>
          </a:p>
        </p:txBody>
      </p:sp>
      <p:sp>
        <p:nvSpPr>
          <p:cNvPr id="11" name="Shape 8"/>
          <p:cNvSpPr/>
          <p:nvPr/>
        </p:nvSpPr>
        <p:spPr>
          <a:xfrm>
            <a:off x="7299722" y="4685645"/>
            <a:ext cx="30480" cy="864037"/>
          </a:xfrm>
          <a:prstGeom prst="roundRect">
            <a:avLst>
              <a:gd name="adj" fmla="val 121500"/>
            </a:avLst>
          </a:prstGeom>
          <a:solidFill>
            <a:srgbClr val="535455"/>
          </a:solidFill>
          <a:ln/>
        </p:spPr>
      </p:sp>
      <p:sp>
        <p:nvSpPr>
          <p:cNvPr id="12" name="Shape 9"/>
          <p:cNvSpPr/>
          <p:nvPr/>
        </p:nvSpPr>
        <p:spPr>
          <a:xfrm>
            <a:off x="7037308" y="4407991"/>
            <a:ext cx="555427" cy="555427"/>
          </a:xfrm>
          <a:prstGeom prst="roundRect">
            <a:avLst>
              <a:gd name="adj" fmla="val 6668"/>
            </a:avLst>
          </a:prstGeom>
          <a:solidFill>
            <a:srgbClr val="3A3B3C"/>
          </a:solidFill>
          <a:ln/>
        </p:spPr>
      </p:sp>
      <p:sp>
        <p:nvSpPr>
          <p:cNvPr id="13" name="Text 10"/>
          <p:cNvSpPr/>
          <p:nvPr/>
        </p:nvSpPr>
        <p:spPr>
          <a:xfrm>
            <a:off x="7201495" y="4500503"/>
            <a:ext cx="227052" cy="370284"/>
          </a:xfrm>
          <a:prstGeom prst="rect">
            <a:avLst/>
          </a:prstGeom>
          <a:noFill/>
          <a:ln/>
        </p:spPr>
        <p:txBody>
          <a:bodyPr wrap="none" lIns="0" tIns="0" rIns="0" bIns="0" rtlCol="0" anchor="t"/>
          <a:lstStyle/>
          <a:p>
            <a:pPr algn="ctr" indent="0" marL="0">
              <a:lnSpc>
                <a:spcPts val="2900"/>
              </a:lnSpc>
              <a:buNone/>
            </a:pPr>
            <a:r>
              <a:rPr lang="en-US" sz="2900" dirty="0">
                <a:solidFill>
                  <a:srgbClr val="CFCBBF"/>
                </a:solidFill>
                <a:latin typeface="Prata" pitchFamily="34" charset="0"/>
                <a:ea typeface="Prata" pitchFamily="34" charset="-122"/>
                <a:cs typeface="Prata" pitchFamily="34" charset="-120"/>
              </a:rPr>
              <a:t>2</a:t>
            </a:r>
            <a:endParaRPr lang="en-US" sz="2900" dirty="0"/>
          </a:p>
        </p:txBody>
      </p:sp>
      <p:sp>
        <p:nvSpPr>
          <p:cNvPr id="14" name="Text 11"/>
          <p:cNvSpPr/>
          <p:nvPr/>
        </p:nvSpPr>
        <p:spPr>
          <a:xfrm>
            <a:off x="5771317" y="5796677"/>
            <a:ext cx="3087648" cy="385763"/>
          </a:xfrm>
          <a:prstGeom prst="rect">
            <a:avLst/>
          </a:prstGeom>
          <a:noFill/>
          <a:ln/>
        </p:spPr>
        <p:txBody>
          <a:bodyPr wrap="none" lIns="0" tIns="0" rIns="0" bIns="0" rtlCol="0" anchor="t"/>
          <a:lstStyle/>
          <a:p>
            <a:pPr algn="ctr" indent="0" marL="0">
              <a:lnSpc>
                <a:spcPts val="3000"/>
              </a:lnSpc>
              <a:buNone/>
            </a:pPr>
            <a:r>
              <a:rPr lang="en-US" sz="2400" dirty="0">
                <a:solidFill>
                  <a:srgbClr val="CFCBBF"/>
                </a:solidFill>
                <a:latin typeface="Prata" pitchFamily="34" charset="0"/>
                <a:ea typeface="Prata" pitchFamily="34" charset="-122"/>
                <a:cs typeface="Prata" pitchFamily="34" charset="-120"/>
              </a:rPr>
              <a:t>Population Inversion</a:t>
            </a:r>
            <a:endParaRPr lang="en-US" sz="2400" dirty="0"/>
          </a:p>
        </p:txBody>
      </p:sp>
      <p:sp>
        <p:nvSpPr>
          <p:cNvPr id="15" name="Text 12"/>
          <p:cNvSpPr/>
          <p:nvPr/>
        </p:nvSpPr>
        <p:spPr>
          <a:xfrm>
            <a:off x="4398050" y="6330553"/>
            <a:ext cx="5834182" cy="1185148"/>
          </a:xfrm>
          <a:prstGeom prst="rect">
            <a:avLst/>
          </a:prstGeom>
          <a:noFill/>
          <a:ln/>
        </p:spPr>
        <p:txBody>
          <a:bodyPr wrap="square" lIns="0" tIns="0" rIns="0" bIns="0" rtlCol="0" anchor="t"/>
          <a:lstStyle/>
          <a:p>
            <a:pPr algn="ctr"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require a population inversion, where more atoms are in an excited state than in the ground state, to amplify the light signal.</a:t>
            </a:r>
            <a:endParaRPr lang="en-US" sz="1900" dirty="0"/>
          </a:p>
        </p:txBody>
      </p:sp>
      <p:sp>
        <p:nvSpPr>
          <p:cNvPr id="16" name="Shape 13"/>
          <p:cNvSpPr/>
          <p:nvPr/>
        </p:nvSpPr>
        <p:spPr>
          <a:xfrm>
            <a:off x="10587038" y="3821728"/>
            <a:ext cx="30480" cy="864037"/>
          </a:xfrm>
          <a:prstGeom prst="roundRect">
            <a:avLst>
              <a:gd name="adj" fmla="val 121500"/>
            </a:avLst>
          </a:prstGeom>
          <a:solidFill>
            <a:srgbClr val="535455"/>
          </a:solidFill>
          <a:ln/>
        </p:spPr>
      </p:sp>
      <p:sp>
        <p:nvSpPr>
          <p:cNvPr id="17" name="Shape 14"/>
          <p:cNvSpPr/>
          <p:nvPr/>
        </p:nvSpPr>
        <p:spPr>
          <a:xfrm>
            <a:off x="10324624" y="4407991"/>
            <a:ext cx="555427" cy="555427"/>
          </a:xfrm>
          <a:prstGeom prst="roundRect">
            <a:avLst>
              <a:gd name="adj" fmla="val 6668"/>
            </a:avLst>
          </a:prstGeom>
          <a:solidFill>
            <a:srgbClr val="3A3B3C"/>
          </a:solidFill>
          <a:ln/>
        </p:spPr>
      </p:sp>
      <p:sp>
        <p:nvSpPr>
          <p:cNvPr id="18" name="Text 15"/>
          <p:cNvSpPr/>
          <p:nvPr/>
        </p:nvSpPr>
        <p:spPr>
          <a:xfrm>
            <a:off x="10487501" y="4500503"/>
            <a:ext cx="229672" cy="370284"/>
          </a:xfrm>
          <a:prstGeom prst="rect">
            <a:avLst/>
          </a:prstGeom>
          <a:noFill/>
          <a:ln/>
        </p:spPr>
        <p:txBody>
          <a:bodyPr wrap="none" lIns="0" tIns="0" rIns="0" bIns="0" rtlCol="0" anchor="t"/>
          <a:lstStyle/>
          <a:p>
            <a:pPr algn="ctr" indent="0" marL="0">
              <a:lnSpc>
                <a:spcPts val="2900"/>
              </a:lnSpc>
              <a:buNone/>
            </a:pPr>
            <a:r>
              <a:rPr lang="en-US" sz="2900" dirty="0">
                <a:solidFill>
                  <a:srgbClr val="CFCBBF"/>
                </a:solidFill>
                <a:latin typeface="Prata" pitchFamily="34" charset="0"/>
                <a:ea typeface="Prata" pitchFamily="34" charset="-122"/>
                <a:cs typeface="Prata" pitchFamily="34" charset="-120"/>
              </a:rPr>
              <a:t>3</a:t>
            </a:r>
            <a:endParaRPr lang="en-US" sz="2900" dirty="0"/>
          </a:p>
        </p:txBody>
      </p:sp>
      <p:sp>
        <p:nvSpPr>
          <p:cNvPr id="19" name="Text 16"/>
          <p:cNvSpPr/>
          <p:nvPr/>
        </p:nvSpPr>
        <p:spPr>
          <a:xfrm>
            <a:off x="9059347" y="1855708"/>
            <a:ext cx="3086100" cy="385763"/>
          </a:xfrm>
          <a:prstGeom prst="rect">
            <a:avLst/>
          </a:prstGeom>
          <a:noFill/>
          <a:ln/>
        </p:spPr>
        <p:txBody>
          <a:bodyPr wrap="none" lIns="0" tIns="0" rIns="0" bIns="0" rtlCol="0" anchor="t"/>
          <a:lstStyle/>
          <a:p>
            <a:pPr algn="ctr" indent="0" marL="0">
              <a:lnSpc>
                <a:spcPts val="3000"/>
              </a:lnSpc>
              <a:buNone/>
            </a:pPr>
            <a:r>
              <a:rPr lang="en-US" sz="2400" dirty="0">
                <a:solidFill>
                  <a:srgbClr val="CFCBBF"/>
                </a:solidFill>
                <a:latin typeface="Prata" pitchFamily="34" charset="0"/>
                <a:ea typeface="Prata" pitchFamily="34" charset="-122"/>
                <a:cs typeface="Prata" pitchFamily="34" charset="-120"/>
              </a:rPr>
              <a:t>Optical Resonator</a:t>
            </a:r>
            <a:endParaRPr lang="en-US" sz="2400" dirty="0"/>
          </a:p>
        </p:txBody>
      </p:sp>
      <p:sp>
        <p:nvSpPr>
          <p:cNvPr id="20" name="Text 17"/>
          <p:cNvSpPr/>
          <p:nvPr/>
        </p:nvSpPr>
        <p:spPr>
          <a:xfrm>
            <a:off x="7685365" y="2389584"/>
            <a:ext cx="5834182" cy="1185148"/>
          </a:xfrm>
          <a:prstGeom prst="rect">
            <a:avLst/>
          </a:prstGeom>
          <a:noFill/>
          <a:ln/>
        </p:spPr>
        <p:txBody>
          <a:bodyPr wrap="square" lIns="0" tIns="0" rIns="0" bIns="0" rtlCol="0" anchor="t"/>
          <a:lstStyle/>
          <a:p>
            <a:pPr algn="ctr" indent="0" marL="0">
              <a:lnSpc>
                <a:spcPts val="3100"/>
              </a:lnSpc>
              <a:buNone/>
            </a:pPr>
            <a:r>
              <a:rPr lang="en-US" sz="1900" dirty="0">
                <a:solidFill>
                  <a:srgbClr val="CFCBBF"/>
                </a:solidFill>
                <a:latin typeface="Raleway" pitchFamily="34" charset="0"/>
                <a:ea typeface="Raleway" pitchFamily="34" charset="-122"/>
                <a:cs typeface="Raleway" pitchFamily="34" charset="-120"/>
              </a:rPr>
              <a:t>The optical resonator, consisting of mirrors, helps to sustain and amplify the laser beam by reflecting the light back and forth.</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2005489"/>
            <a:ext cx="12274153" cy="771525"/>
          </a:xfrm>
          <a:prstGeom prst="rect">
            <a:avLst/>
          </a:prstGeom>
          <a:noFill/>
          <a:ln/>
        </p:spPr>
        <p:txBody>
          <a:bodyPr wrap="none" lIns="0" tIns="0" rIns="0" bIns="0" rtlCol="0" anchor="t"/>
          <a:lstStyle/>
          <a:p>
            <a:pPr indent="0" marL="0">
              <a:lnSpc>
                <a:spcPts val="6050"/>
              </a:lnSpc>
              <a:buNone/>
            </a:pPr>
            <a:r>
              <a:rPr lang="en-US" sz="4850" dirty="0">
                <a:solidFill>
                  <a:srgbClr val="F2E782"/>
                </a:solidFill>
                <a:latin typeface="Prata" pitchFamily="34" charset="0"/>
                <a:ea typeface="Prata" pitchFamily="34" charset="-122"/>
                <a:cs typeface="Prata" pitchFamily="34" charset="-120"/>
              </a:rPr>
              <a:t>Types of Lasers and Their Characteristics</a:t>
            </a:r>
            <a:endParaRPr lang="en-US" sz="4850" dirty="0"/>
          </a:p>
        </p:txBody>
      </p:sp>
      <p:sp>
        <p:nvSpPr>
          <p:cNvPr id="3" name="Text 1"/>
          <p:cNvSpPr/>
          <p:nvPr/>
        </p:nvSpPr>
        <p:spPr>
          <a:xfrm>
            <a:off x="864037" y="3394115"/>
            <a:ext cx="3086100" cy="385763"/>
          </a:xfrm>
          <a:prstGeom prst="rect">
            <a:avLst/>
          </a:prstGeom>
          <a:noFill/>
          <a:ln/>
        </p:spPr>
        <p:txBody>
          <a:bodyPr wrap="none" lIns="0" tIns="0" rIns="0" bIns="0" rtlCol="0" anchor="t"/>
          <a:lstStyle/>
          <a:p>
            <a:pPr indent="0" marL="0">
              <a:lnSpc>
                <a:spcPts val="3000"/>
              </a:lnSpc>
              <a:buNone/>
            </a:pPr>
            <a:r>
              <a:rPr lang="en-US" sz="2400" dirty="0">
                <a:solidFill>
                  <a:srgbClr val="F2E782"/>
                </a:solidFill>
                <a:latin typeface="Prata" pitchFamily="34" charset="0"/>
                <a:ea typeface="Prata" pitchFamily="34" charset="-122"/>
                <a:cs typeface="Prata" pitchFamily="34" charset="-120"/>
              </a:rPr>
              <a:t>Gas Lasers</a:t>
            </a:r>
            <a:endParaRPr lang="en-US" sz="2400" dirty="0"/>
          </a:p>
        </p:txBody>
      </p:sp>
      <p:sp>
        <p:nvSpPr>
          <p:cNvPr id="4" name="Text 2"/>
          <p:cNvSpPr/>
          <p:nvPr/>
        </p:nvSpPr>
        <p:spPr>
          <a:xfrm>
            <a:off x="864037" y="4026694"/>
            <a:ext cx="3898821" cy="158019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Gas lasers, such as helium-neon and carbon dioxide lasers, are known for their high efficiency and reliability.</a:t>
            </a:r>
            <a:endParaRPr lang="en-US" sz="1900" dirty="0"/>
          </a:p>
        </p:txBody>
      </p:sp>
      <p:sp>
        <p:nvSpPr>
          <p:cNvPr id="5" name="Text 3"/>
          <p:cNvSpPr/>
          <p:nvPr/>
        </p:nvSpPr>
        <p:spPr>
          <a:xfrm>
            <a:off x="5372695" y="3394115"/>
            <a:ext cx="3086100" cy="385763"/>
          </a:xfrm>
          <a:prstGeom prst="rect">
            <a:avLst/>
          </a:prstGeom>
          <a:noFill/>
          <a:ln/>
        </p:spPr>
        <p:txBody>
          <a:bodyPr wrap="none" lIns="0" tIns="0" rIns="0" bIns="0" rtlCol="0" anchor="t"/>
          <a:lstStyle/>
          <a:p>
            <a:pPr indent="0" marL="0">
              <a:lnSpc>
                <a:spcPts val="3000"/>
              </a:lnSpc>
              <a:buNone/>
            </a:pPr>
            <a:r>
              <a:rPr lang="en-US" sz="2400" dirty="0">
                <a:solidFill>
                  <a:srgbClr val="F2E782"/>
                </a:solidFill>
                <a:latin typeface="Prata" pitchFamily="34" charset="0"/>
                <a:ea typeface="Prata" pitchFamily="34" charset="-122"/>
                <a:cs typeface="Prata" pitchFamily="34" charset="-120"/>
              </a:rPr>
              <a:t>Solid-State Lasers</a:t>
            </a:r>
            <a:endParaRPr lang="en-US" sz="2400" dirty="0"/>
          </a:p>
        </p:txBody>
      </p:sp>
      <p:sp>
        <p:nvSpPr>
          <p:cNvPr id="6" name="Text 4"/>
          <p:cNvSpPr/>
          <p:nvPr/>
        </p:nvSpPr>
        <p:spPr>
          <a:xfrm>
            <a:off x="5372695" y="4026694"/>
            <a:ext cx="3898821" cy="158019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Solid-state lasers, including ruby and neodymium-doped lasers, offer high power and versatility in various applications.</a:t>
            </a:r>
            <a:endParaRPr lang="en-US" sz="1900" dirty="0"/>
          </a:p>
        </p:txBody>
      </p:sp>
      <p:sp>
        <p:nvSpPr>
          <p:cNvPr id="7" name="Text 5"/>
          <p:cNvSpPr/>
          <p:nvPr/>
        </p:nvSpPr>
        <p:spPr>
          <a:xfrm>
            <a:off x="9881354" y="3394115"/>
            <a:ext cx="3353991" cy="385763"/>
          </a:xfrm>
          <a:prstGeom prst="rect">
            <a:avLst/>
          </a:prstGeom>
          <a:noFill/>
          <a:ln/>
        </p:spPr>
        <p:txBody>
          <a:bodyPr wrap="none" lIns="0" tIns="0" rIns="0" bIns="0" rtlCol="0" anchor="t"/>
          <a:lstStyle/>
          <a:p>
            <a:pPr indent="0" marL="0">
              <a:lnSpc>
                <a:spcPts val="3000"/>
              </a:lnSpc>
              <a:buNone/>
            </a:pPr>
            <a:r>
              <a:rPr lang="en-US" sz="2400" dirty="0">
                <a:solidFill>
                  <a:srgbClr val="F2E782"/>
                </a:solidFill>
                <a:latin typeface="Prata" pitchFamily="34" charset="0"/>
                <a:ea typeface="Prata" pitchFamily="34" charset="-122"/>
                <a:cs typeface="Prata" pitchFamily="34" charset="-120"/>
              </a:rPr>
              <a:t>Semiconductor Lasers</a:t>
            </a:r>
            <a:endParaRPr lang="en-US" sz="2400" dirty="0"/>
          </a:p>
        </p:txBody>
      </p:sp>
      <p:sp>
        <p:nvSpPr>
          <p:cNvPr id="8" name="Text 6"/>
          <p:cNvSpPr/>
          <p:nvPr/>
        </p:nvSpPr>
        <p:spPr>
          <a:xfrm>
            <a:off x="9881354" y="4026694"/>
            <a:ext cx="3898821" cy="1975247"/>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Semiconductor lasers, or diode lasers, are compact, cost-effective, and widely used in consumer electronics and telecommunications.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4037" y="1362075"/>
            <a:ext cx="12272248" cy="771525"/>
          </a:xfrm>
          <a:prstGeom prst="rect">
            <a:avLst/>
          </a:prstGeom>
          <a:noFill/>
          <a:ln/>
        </p:spPr>
        <p:txBody>
          <a:bodyPr wrap="none" lIns="0" tIns="0" rIns="0" bIns="0" rtlCol="0" anchor="t"/>
          <a:lstStyle/>
          <a:p>
            <a:pPr indent="0" marL="0">
              <a:lnSpc>
                <a:spcPts val="6050"/>
              </a:lnSpc>
              <a:buNone/>
            </a:pPr>
            <a:r>
              <a:rPr lang="en-US" sz="4850" dirty="0">
                <a:solidFill>
                  <a:srgbClr val="F2E782"/>
                </a:solidFill>
                <a:latin typeface="Prata" pitchFamily="34" charset="0"/>
                <a:ea typeface="Prata" pitchFamily="34" charset="-122"/>
                <a:cs typeface="Prata" pitchFamily="34" charset="-120"/>
              </a:rPr>
              <a:t>Laser Beam Properties and Manipulation</a:t>
            </a:r>
            <a:endParaRPr lang="en-US" sz="4850" dirty="0"/>
          </a:p>
        </p:txBody>
      </p:sp>
      <p:sp>
        <p:nvSpPr>
          <p:cNvPr id="3" name="Shape 1"/>
          <p:cNvSpPr/>
          <p:nvPr/>
        </p:nvSpPr>
        <p:spPr>
          <a:xfrm>
            <a:off x="864037" y="2905006"/>
            <a:ext cx="555427" cy="555427"/>
          </a:xfrm>
          <a:prstGeom prst="roundRect">
            <a:avLst>
              <a:gd name="adj" fmla="val 6668"/>
            </a:avLst>
          </a:prstGeom>
          <a:solidFill>
            <a:srgbClr val="3A3B3C"/>
          </a:solidFill>
          <a:ln/>
        </p:spPr>
      </p:sp>
      <p:sp>
        <p:nvSpPr>
          <p:cNvPr id="4" name="Text 2"/>
          <p:cNvSpPr/>
          <p:nvPr/>
        </p:nvSpPr>
        <p:spPr>
          <a:xfrm>
            <a:off x="1077873" y="2997518"/>
            <a:ext cx="127754" cy="370284"/>
          </a:xfrm>
          <a:prstGeom prst="rect">
            <a:avLst/>
          </a:prstGeom>
          <a:noFill/>
          <a:ln/>
        </p:spPr>
        <p:txBody>
          <a:bodyPr wrap="none" lIns="0" tIns="0" rIns="0" bIns="0" rtlCol="0" anchor="t"/>
          <a:lstStyle/>
          <a:p>
            <a:pPr algn="ctr" indent="0" marL="0">
              <a:lnSpc>
                <a:spcPts val="2900"/>
              </a:lnSpc>
              <a:buNone/>
            </a:pPr>
            <a:r>
              <a:rPr lang="en-US" sz="2900" dirty="0">
                <a:solidFill>
                  <a:srgbClr val="CFCBBF"/>
                </a:solidFill>
                <a:latin typeface="Prata" pitchFamily="34" charset="0"/>
                <a:ea typeface="Prata" pitchFamily="34" charset="-122"/>
                <a:cs typeface="Prata" pitchFamily="34" charset="-120"/>
              </a:rPr>
              <a:t>1</a:t>
            </a:r>
            <a:endParaRPr lang="en-US" sz="2900" dirty="0"/>
          </a:p>
        </p:txBody>
      </p:sp>
      <p:sp>
        <p:nvSpPr>
          <p:cNvPr id="5" name="Text 3"/>
          <p:cNvSpPr/>
          <p:nvPr/>
        </p:nvSpPr>
        <p:spPr>
          <a:xfrm>
            <a:off x="1666280" y="2905006"/>
            <a:ext cx="3086100"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Collimation</a:t>
            </a:r>
            <a:endParaRPr lang="en-US" sz="2400" dirty="0"/>
          </a:p>
        </p:txBody>
      </p:sp>
      <p:sp>
        <p:nvSpPr>
          <p:cNvPr id="6" name="Text 4"/>
          <p:cNvSpPr/>
          <p:nvPr/>
        </p:nvSpPr>
        <p:spPr>
          <a:xfrm>
            <a:off x="1666280" y="3438882"/>
            <a:ext cx="552557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produce highly collimated beams, meaning the light waves travel in parallel, enabling long-distance applications.</a:t>
            </a:r>
            <a:endParaRPr lang="en-US" sz="1900" dirty="0"/>
          </a:p>
        </p:txBody>
      </p:sp>
      <p:sp>
        <p:nvSpPr>
          <p:cNvPr id="7" name="Shape 5"/>
          <p:cNvSpPr/>
          <p:nvPr/>
        </p:nvSpPr>
        <p:spPr>
          <a:xfrm>
            <a:off x="7438668" y="2905006"/>
            <a:ext cx="555427" cy="555427"/>
          </a:xfrm>
          <a:prstGeom prst="roundRect">
            <a:avLst>
              <a:gd name="adj" fmla="val 6668"/>
            </a:avLst>
          </a:prstGeom>
          <a:solidFill>
            <a:srgbClr val="3A3B3C"/>
          </a:solidFill>
          <a:ln/>
        </p:spPr>
      </p:sp>
      <p:sp>
        <p:nvSpPr>
          <p:cNvPr id="8" name="Text 6"/>
          <p:cNvSpPr/>
          <p:nvPr/>
        </p:nvSpPr>
        <p:spPr>
          <a:xfrm>
            <a:off x="7602855" y="2997518"/>
            <a:ext cx="227052" cy="370284"/>
          </a:xfrm>
          <a:prstGeom prst="rect">
            <a:avLst/>
          </a:prstGeom>
          <a:noFill/>
          <a:ln/>
        </p:spPr>
        <p:txBody>
          <a:bodyPr wrap="none" lIns="0" tIns="0" rIns="0" bIns="0" rtlCol="0" anchor="t"/>
          <a:lstStyle/>
          <a:p>
            <a:pPr algn="ctr" indent="0" marL="0">
              <a:lnSpc>
                <a:spcPts val="2900"/>
              </a:lnSpc>
              <a:buNone/>
            </a:pPr>
            <a:r>
              <a:rPr lang="en-US" sz="2900" dirty="0">
                <a:solidFill>
                  <a:srgbClr val="CFCBBF"/>
                </a:solidFill>
                <a:latin typeface="Prata" pitchFamily="34" charset="0"/>
                <a:ea typeface="Prata" pitchFamily="34" charset="-122"/>
                <a:cs typeface="Prata" pitchFamily="34" charset="-120"/>
              </a:rPr>
              <a:t>2</a:t>
            </a:r>
            <a:endParaRPr lang="en-US" sz="2900" dirty="0"/>
          </a:p>
        </p:txBody>
      </p:sp>
      <p:sp>
        <p:nvSpPr>
          <p:cNvPr id="9" name="Text 7"/>
          <p:cNvSpPr/>
          <p:nvPr/>
        </p:nvSpPr>
        <p:spPr>
          <a:xfrm>
            <a:off x="8240911" y="2905006"/>
            <a:ext cx="3086100"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Monochromaticity</a:t>
            </a:r>
            <a:endParaRPr lang="en-US" sz="2400" dirty="0"/>
          </a:p>
        </p:txBody>
      </p:sp>
      <p:sp>
        <p:nvSpPr>
          <p:cNvPr id="10" name="Text 8"/>
          <p:cNvSpPr/>
          <p:nvPr/>
        </p:nvSpPr>
        <p:spPr>
          <a:xfrm>
            <a:off x="8240911" y="3438882"/>
            <a:ext cx="552557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emit light at a single, specific wavelength, providing precise control and applications in spectroscopy and metrology.</a:t>
            </a:r>
            <a:endParaRPr lang="en-US" sz="1900" dirty="0"/>
          </a:p>
        </p:txBody>
      </p:sp>
      <p:sp>
        <p:nvSpPr>
          <p:cNvPr id="11" name="Shape 9"/>
          <p:cNvSpPr/>
          <p:nvPr/>
        </p:nvSpPr>
        <p:spPr>
          <a:xfrm>
            <a:off x="864037" y="5148501"/>
            <a:ext cx="555427" cy="555427"/>
          </a:xfrm>
          <a:prstGeom prst="roundRect">
            <a:avLst>
              <a:gd name="adj" fmla="val 6668"/>
            </a:avLst>
          </a:prstGeom>
          <a:solidFill>
            <a:srgbClr val="3A3B3C"/>
          </a:solidFill>
          <a:ln/>
        </p:spPr>
      </p:sp>
      <p:sp>
        <p:nvSpPr>
          <p:cNvPr id="12" name="Text 10"/>
          <p:cNvSpPr/>
          <p:nvPr/>
        </p:nvSpPr>
        <p:spPr>
          <a:xfrm>
            <a:off x="1026914" y="5241012"/>
            <a:ext cx="229672" cy="370284"/>
          </a:xfrm>
          <a:prstGeom prst="rect">
            <a:avLst/>
          </a:prstGeom>
          <a:noFill/>
          <a:ln/>
        </p:spPr>
        <p:txBody>
          <a:bodyPr wrap="none" lIns="0" tIns="0" rIns="0" bIns="0" rtlCol="0" anchor="t"/>
          <a:lstStyle/>
          <a:p>
            <a:pPr algn="ctr" indent="0" marL="0">
              <a:lnSpc>
                <a:spcPts val="2900"/>
              </a:lnSpc>
              <a:buNone/>
            </a:pPr>
            <a:r>
              <a:rPr lang="en-US" sz="2900" dirty="0">
                <a:solidFill>
                  <a:srgbClr val="CFCBBF"/>
                </a:solidFill>
                <a:latin typeface="Prata" pitchFamily="34" charset="0"/>
                <a:ea typeface="Prata" pitchFamily="34" charset="-122"/>
                <a:cs typeface="Prata" pitchFamily="34" charset="-120"/>
              </a:rPr>
              <a:t>3</a:t>
            </a:r>
            <a:endParaRPr lang="en-US" sz="2900" dirty="0"/>
          </a:p>
        </p:txBody>
      </p:sp>
      <p:sp>
        <p:nvSpPr>
          <p:cNvPr id="13" name="Text 11"/>
          <p:cNvSpPr/>
          <p:nvPr/>
        </p:nvSpPr>
        <p:spPr>
          <a:xfrm>
            <a:off x="1666280" y="5148501"/>
            <a:ext cx="3086100"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Directionality</a:t>
            </a:r>
            <a:endParaRPr lang="en-US" sz="2400" dirty="0"/>
          </a:p>
        </p:txBody>
      </p:sp>
      <p:sp>
        <p:nvSpPr>
          <p:cNvPr id="14" name="Text 12"/>
          <p:cNvSpPr/>
          <p:nvPr/>
        </p:nvSpPr>
        <p:spPr>
          <a:xfrm>
            <a:off x="1666280" y="5682377"/>
            <a:ext cx="552557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can focus their energy into a narrow beam, allowing for high-precision cutting, welding, and targeting applications.</a:t>
            </a:r>
            <a:endParaRPr lang="en-US" sz="1900" dirty="0"/>
          </a:p>
        </p:txBody>
      </p:sp>
      <p:sp>
        <p:nvSpPr>
          <p:cNvPr id="15" name="Shape 13"/>
          <p:cNvSpPr/>
          <p:nvPr/>
        </p:nvSpPr>
        <p:spPr>
          <a:xfrm>
            <a:off x="7438668" y="5148501"/>
            <a:ext cx="555427" cy="555427"/>
          </a:xfrm>
          <a:prstGeom prst="roundRect">
            <a:avLst>
              <a:gd name="adj" fmla="val 6668"/>
            </a:avLst>
          </a:prstGeom>
          <a:solidFill>
            <a:srgbClr val="3A3B3C"/>
          </a:solidFill>
          <a:ln/>
        </p:spPr>
      </p:sp>
      <p:sp>
        <p:nvSpPr>
          <p:cNvPr id="16" name="Text 14"/>
          <p:cNvSpPr/>
          <p:nvPr/>
        </p:nvSpPr>
        <p:spPr>
          <a:xfrm>
            <a:off x="7607975" y="5241012"/>
            <a:ext cx="216694" cy="370284"/>
          </a:xfrm>
          <a:prstGeom prst="rect">
            <a:avLst/>
          </a:prstGeom>
          <a:noFill/>
          <a:ln/>
        </p:spPr>
        <p:txBody>
          <a:bodyPr wrap="none" lIns="0" tIns="0" rIns="0" bIns="0" rtlCol="0" anchor="t"/>
          <a:lstStyle/>
          <a:p>
            <a:pPr algn="ctr" indent="0" marL="0">
              <a:lnSpc>
                <a:spcPts val="2900"/>
              </a:lnSpc>
              <a:buNone/>
            </a:pPr>
            <a:r>
              <a:rPr lang="en-US" sz="2900" dirty="0">
                <a:solidFill>
                  <a:srgbClr val="CFCBBF"/>
                </a:solidFill>
                <a:latin typeface="Prata" pitchFamily="34" charset="0"/>
                <a:ea typeface="Prata" pitchFamily="34" charset="-122"/>
                <a:cs typeface="Prata" pitchFamily="34" charset="-120"/>
              </a:rPr>
              <a:t>4</a:t>
            </a:r>
            <a:endParaRPr lang="en-US" sz="2900" dirty="0"/>
          </a:p>
        </p:txBody>
      </p:sp>
      <p:sp>
        <p:nvSpPr>
          <p:cNvPr id="17" name="Text 15"/>
          <p:cNvSpPr/>
          <p:nvPr/>
        </p:nvSpPr>
        <p:spPr>
          <a:xfrm>
            <a:off x="8240911" y="5148501"/>
            <a:ext cx="3086100"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Coherence</a:t>
            </a:r>
            <a:endParaRPr lang="en-US" sz="2400" dirty="0"/>
          </a:p>
        </p:txBody>
      </p:sp>
      <p:sp>
        <p:nvSpPr>
          <p:cNvPr id="18" name="Text 16"/>
          <p:cNvSpPr/>
          <p:nvPr/>
        </p:nvSpPr>
        <p:spPr>
          <a:xfrm>
            <a:off x="8240911" y="5682377"/>
            <a:ext cx="552557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The high degree of coherence in laser light enables interference patterns, holography, and advanced communication systems.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4037" y="1146096"/>
            <a:ext cx="9613940" cy="771525"/>
          </a:xfrm>
          <a:prstGeom prst="rect">
            <a:avLst/>
          </a:prstGeom>
          <a:noFill/>
          <a:ln/>
        </p:spPr>
        <p:txBody>
          <a:bodyPr wrap="none" lIns="0" tIns="0" rIns="0" bIns="0" rtlCol="0" anchor="t"/>
          <a:lstStyle/>
          <a:p>
            <a:pPr indent="0" marL="0">
              <a:lnSpc>
                <a:spcPts val="6050"/>
              </a:lnSpc>
              <a:buNone/>
            </a:pPr>
            <a:r>
              <a:rPr lang="en-US" sz="4850" dirty="0">
                <a:solidFill>
                  <a:srgbClr val="F2E782"/>
                </a:solidFill>
                <a:latin typeface="Prata" pitchFamily="34" charset="0"/>
                <a:ea typeface="Prata" pitchFamily="34" charset="-122"/>
                <a:cs typeface="Prata" pitchFamily="34" charset="-120"/>
              </a:rPr>
              <a:t>Industrial Applications of Lasers</a:t>
            </a:r>
            <a:endParaRPr lang="en-US" sz="4850" dirty="0"/>
          </a:p>
        </p:txBody>
      </p:sp>
      <p:sp>
        <p:nvSpPr>
          <p:cNvPr id="3" name="Shape 1"/>
          <p:cNvSpPr/>
          <p:nvPr/>
        </p:nvSpPr>
        <p:spPr>
          <a:xfrm>
            <a:off x="864037" y="2411373"/>
            <a:ext cx="6327815" cy="2212657"/>
          </a:xfrm>
          <a:prstGeom prst="roundRect">
            <a:avLst>
              <a:gd name="adj" fmla="val 1674"/>
            </a:avLst>
          </a:prstGeom>
          <a:solidFill>
            <a:srgbClr val="3A3B3C"/>
          </a:solidFill>
          <a:ln/>
        </p:spPr>
      </p:sp>
      <p:sp>
        <p:nvSpPr>
          <p:cNvPr id="4" name="Text 2"/>
          <p:cNvSpPr/>
          <p:nvPr/>
        </p:nvSpPr>
        <p:spPr>
          <a:xfrm>
            <a:off x="1110853" y="2658189"/>
            <a:ext cx="4489371"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Precision Cutting and Welding</a:t>
            </a:r>
            <a:endParaRPr lang="en-US" sz="2400" dirty="0"/>
          </a:p>
        </p:txBody>
      </p:sp>
      <p:sp>
        <p:nvSpPr>
          <p:cNvPr id="5" name="Text 3"/>
          <p:cNvSpPr/>
          <p:nvPr/>
        </p:nvSpPr>
        <p:spPr>
          <a:xfrm>
            <a:off x="1110853" y="3192066"/>
            <a:ext cx="583418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are used for highly precise, clean, and efficient cutting and welding of materials in manufacturing and fabrication.</a:t>
            </a:r>
            <a:endParaRPr lang="en-US" sz="1900" dirty="0"/>
          </a:p>
        </p:txBody>
      </p:sp>
      <p:sp>
        <p:nvSpPr>
          <p:cNvPr id="6" name="Shape 4"/>
          <p:cNvSpPr/>
          <p:nvPr/>
        </p:nvSpPr>
        <p:spPr>
          <a:xfrm>
            <a:off x="7438668" y="2411373"/>
            <a:ext cx="6327815" cy="2212657"/>
          </a:xfrm>
          <a:prstGeom prst="roundRect">
            <a:avLst>
              <a:gd name="adj" fmla="val 1674"/>
            </a:avLst>
          </a:prstGeom>
          <a:solidFill>
            <a:srgbClr val="3A3B3C"/>
          </a:solidFill>
          <a:ln/>
        </p:spPr>
      </p:sp>
      <p:sp>
        <p:nvSpPr>
          <p:cNvPr id="7" name="Text 5"/>
          <p:cNvSpPr/>
          <p:nvPr/>
        </p:nvSpPr>
        <p:spPr>
          <a:xfrm>
            <a:off x="7685484" y="2658189"/>
            <a:ext cx="3514487"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Additive Manufacturing</a:t>
            </a:r>
            <a:endParaRPr lang="en-US" sz="2400" dirty="0"/>
          </a:p>
        </p:txBody>
      </p:sp>
      <p:sp>
        <p:nvSpPr>
          <p:cNvPr id="8" name="Text 6"/>
          <p:cNvSpPr/>
          <p:nvPr/>
        </p:nvSpPr>
        <p:spPr>
          <a:xfrm>
            <a:off x="7685484" y="3192066"/>
            <a:ext cx="583418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Laser-based 3D printing, or additive manufacturing, allows for the creation of complex, customized parts and prototypes.</a:t>
            </a:r>
            <a:endParaRPr lang="en-US" sz="1900" dirty="0"/>
          </a:p>
        </p:txBody>
      </p:sp>
      <p:sp>
        <p:nvSpPr>
          <p:cNvPr id="9" name="Shape 7"/>
          <p:cNvSpPr/>
          <p:nvPr/>
        </p:nvSpPr>
        <p:spPr>
          <a:xfrm>
            <a:off x="864037" y="4870847"/>
            <a:ext cx="6327815" cy="2212657"/>
          </a:xfrm>
          <a:prstGeom prst="roundRect">
            <a:avLst>
              <a:gd name="adj" fmla="val 1674"/>
            </a:avLst>
          </a:prstGeom>
          <a:solidFill>
            <a:srgbClr val="3A3B3C"/>
          </a:solidFill>
          <a:ln/>
        </p:spPr>
      </p:sp>
      <p:sp>
        <p:nvSpPr>
          <p:cNvPr id="10" name="Text 8"/>
          <p:cNvSpPr/>
          <p:nvPr/>
        </p:nvSpPr>
        <p:spPr>
          <a:xfrm>
            <a:off x="1110853" y="511766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Laser Machining</a:t>
            </a:r>
            <a:endParaRPr lang="en-US" sz="2400" dirty="0"/>
          </a:p>
        </p:txBody>
      </p:sp>
      <p:sp>
        <p:nvSpPr>
          <p:cNvPr id="11" name="Text 9"/>
          <p:cNvSpPr/>
          <p:nvPr/>
        </p:nvSpPr>
        <p:spPr>
          <a:xfrm>
            <a:off x="1110853" y="5651540"/>
            <a:ext cx="583418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are employed for precise material removal, drilling, and surface treatment in various industrial processes.</a:t>
            </a:r>
            <a:endParaRPr lang="en-US" sz="1900" dirty="0"/>
          </a:p>
        </p:txBody>
      </p:sp>
      <p:sp>
        <p:nvSpPr>
          <p:cNvPr id="12" name="Shape 10"/>
          <p:cNvSpPr/>
          <p:nvPr/>
        </p:nvSpPr>
        <p:spPr>
          <a:xfrm>
            <a:off x="7438668" y="4870847"/>
            <a:ext cx="6327815" cy="2212657"/>
          </a:xfrm>
          <a:prstGeom prst="roundRect">
            <a:avLst>
              <a:gd name="adj" fmla="val 1674"/>
            </a:avLst>
          </a:prstGeom>
          <a:solidFill>
            <a:srgbClr val="3A3B3C"/>
          </a:solidFill>
          <a:ln/>
        </p:spPr>
      </p:sp>
      <p:sp>
        <p:nvSpPr>
          <p:cNvPr id="13" name="Text 11"/>
          <p:cNvSpPr/>
          <p:nvPr/>
        </p:nvSpPr>
        <p:spPr>
          <a:xfrm>
            <a:off x="7685484" y="5117663"/>
            <a:ext cx="3086100" cy="385763"/>
          </a:xfrm>
          <a:prstGeom prst="rect">
            <a:avLst/>
          </a:prstGeom>
          <a:noFill/>
          <a:ln/>
        </p:spPr>
        <p:txBody>
          <a:bodyPr wrap="none" lIns="0" tIns="0" rIns="0" bIns="0" rtlCol="0" anchor="t"/>
          <a:lstStyle/>
          <a:p>
            <a:pPr indent="0" marL="0">
              <a:lnSpc>
                <a:spcPts val="3000"/>
              </a:lnSpc>
              <a:buNone/>
            </a:pPr>
            <a:r>
              <a:rPr lang="en-US" sz="2400" dirty="0">
                <a:solidFill>
                  <a:srgbClr val="CFCBBF"/>
                </a:solidFill>
                <a:latin typeface="Prata" pitchFamily="34" charset="0"/>
                <a:ea typeface="Prata" pitchFamily="34" charset="-122"/>
                <a:cs typeface="Prata" pitchFamily="34" charset="-120"/>
              </a:rPr>
              <a:t>Laser Metrology</a:t>
            </a:r>
            <a:endParaRPr lang="en-US" sz="2400" dirty="0"/>
          </a:p>
        </p:txBody>
      </p:sp>
      <p:sp>
        <p:nvSpPr>
          <p:cNvPr id="14" name="Text 12"/>
          <p:cNvSpPr/>
          <p:nvPr/>
        </p:nvSpPr>
        <p:spPr>
          <a:xfrm>
            <a:off x="7685484" y="5651540"/>
            <a:ext cx="5834182" cy="1185148"/>
          </a:xfrm>
          <a:prstGeom prst="rect">
            <a:avLst/>
          </a:prstGeom>
          <a:noFill/>
          <a:ln/>
        </p:spPr>
        <p:txBody>
          <a:bodyPr wrap="squar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Laser-based measurement techniques, such as interferometry and LIDAR, enable highly accurate and non-contact inspections.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4037" y="1207651"/>
            <a:ext cx="9119473" cy="771525"/>
          </a:xfrm>
          <a:prstGeom prst="rect">
            <a:avLst/>
          </a:prstGeom>
          <a:noFill/>
          <a:ln/>
        </p:spPr>
        <p:txBody>
          <a:bodyPr wrap="none" lIns="0" tIns="0" rIns="0" bIns="0" rtlCol="0" anchor="t"/>
          <a:lstStyle/>
          <a:p>
            <a:pPr indent="0" marL="0">
              <a:lnSpc>
                <a:spcPts val="6050"/>
              </a:lnSpc>
              <a:buNone/>
            </a:pPr>
            <a:r>
              <a:rPr lang="en-US" sz="4850" dirty="0">
                <a:solidFill>
                  <a:srgbClr val="F2E782"/>
                </a:solidFill>
                <a:latin typeface="Prata" pitchFamily="34" charset="0"/>
                <a:ea typeface="Prata" pitchFamily="34" charset="-122"/>
                <a:cs typeface="Prata" pitchFamily="34" charset="-120"/>
              </a:rPr>
              <a:t>Medical Applications of Lasers</a:t>
            </a:r>
            <a:endParaRPr lang="en-US" sz="4850" dirty="0"/>
          </a:p>
        </p:txBody>
      </p:sp>
      <p:pic>
        <p:nvPicPr>
          <p:cNvPr id="3" name="Image 0" descr="preencoded.png">    </p:cNvPr>
          <p:cNvPicPr>
            <a:picLocks noChangeAspect="1"/>
          </p:cNvPicPr>
          <p:nvPr/>
        </p:nvPicPr>
        <p:blipFill>
          <a:blip r:embed="rId1"/>
          <a:stretch>
            <a:fillRect/>
          </a:stretch>
        </p:blipFill>
        <p:spPr>
          <a:xfrm>
            <a:off x="864037" y="2472928"/>
            <a:ext cx="617220" cy="617220"/>
          </a:xfrm>
          <a:prstGeom prst="rect">
            <a:avLst/>
          </a:prstGeom>
        </p:spPr>
      </p:pic>
      <p:sp>
        <p:nvSpPr>
          <p:cNvPr id="4" name="Text 1"/>
          <p:cNvSpPr/>
          <p:nvPr/>
        </p:nvSpPr>
        <p:spPr>
          <a:xfrm>
            <a:off x="864037" y="3336965"/>
            <a:ext cx="2947868" cy="771525"/>
          </a:xfrm>
          <a:prstGeom prst="rect">
            <a:avLst/>
          </a:prstGeom>
          <a:noFill/>
          <a:ln/>
        </p:spPr>
        <p:txBody>
          <a:bodyPr wrap="square" lIns="0" tIns="0" rIns="0" bIns="0" rtlCol="0" anchor="t"/>
          <a:lstStyle/>
          <a:p>
            <a:pPr algn="l" indent="0" marL="0">
              <a:lnSpc>
                <a:spcPts val="3000"/>
              </a:lnSpc>
              <a:buNone/>
            </a:pPr>
            <a:r>
              <a:rPr lang="en-US" sz="2400" dirty="0">
                <a:solidFill>
                  <a:srgbClr val="CFCBBF"/>
                </a:solidFill>
                <a:latin typeface="Prata" pitchFamily="34" charset="0"/>
                <a:ea typeface="Prata" pitchFamily="34" charset="-122"/>
                <a:cs typeface="Prata" pitchFamily="34" charset="-120"/>
              </a:rPr>
              <a:t>Surgical Procedures</a:t>
            </a:r>
            <a:endParaRPr lang="en-US" sz="2400" dirty="0"/>
          </a:p>
        </p:txBody>
      </p:sp>
      <p:sp>
        <p:nvSpPr>
          <p:cNvPr id="5" name="Text 2"/>
          <p:cNvSpPr/>
          <p:nvPr/>
        </p:nvSpPr>
        <p:spPr>
          <a:xfrm>
            <a:off x="864037" y="4256603"/>
            <a:ext cx="2947868" cy="2765346"/>
          </a:xfrm>
          <a:prstGeom prst="rect">
            <a:avLst/>
          </a:prstGeom>
          <a:noFill/>
          <a:ln/>
        </p:spPr>
        <p:txBody>
          <a:bodyPr wrap="square" lIns="0" tIns="0" rIns="0" bIns="0" rtlCol="0" anchor="t"/>
          <a:lstStyle/>
          <a:p>
            <a:pPr algn="l"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are used for precise, minimally invasive surgical procedures, including eye corrections, tumor removal, and skin treatments.</a:t>
            </a:r>
            <a:endParaRPr lang="en-US" sz="1900" dirty="0"/>
          </a:p>
        </p:txBody>
      </p:sp>
      <p:pic>
        <p:nvPicPr>
          <p:cNvPr id="6" name="Image 1" descr="preencoded.png">    </p:cNvPr>
          <p:cNvPicPr>
            <a:picLocks noChangeAspect="1"/>
          </p:cNvPicPr>
          <p:nvPr/>
        </p:nvPicPr>
        <p:blipFill>
          <a:blip r:embed="rId2"/>
          <a:stretch>
            <a:fillRect/>
          </a:stretch>
        </p:blipFill>
        <p:spPr>
          <a:xfrm>
            <a:off x="4182189" y="2472928"/>
            <a:ext cx="617220" cy="617220"/>
          </a:xfrm>
          <a:prstGeom prst="rect">
            <a:avLst/>
          </a:prstGeom>
        </p:spPr>
      </p:pic>
      <p:sp>
        <p:nvSpPr>
          <p:cNvPr id="7" name="Text 3"/>
          <p:cNvSpPr/>
          <p:nvPr/>
        </p:nvSpPr>
        <p:spPr>
          <a:xfrm>
            <a:off x="4182189" y="3336965"/>
            <a:ext cx="2947868" cy="771525"/>
          </a:xfrm>
          <a:prstGeom prst="rect">
            <a:avLst/>
          </a:prstGeom>
          <a:noFill/>
          <a:ln/>
        </p:spPr>
        <p:txBody>
          <a:bodyPr wrap="square" lIns="0" tIns="0" rIns="0" bIns="0" rtlCol="0" anchor="t"/>
          <a:lstStyle/>
          <a:p>
            <a:pPr algn="l" indent="0" marL="0">
              <a:lnSpc>
                <a:spcPts val="3000"/>
              </a:lnSpc>
              <a:buNone/>
            </a:pPr>
            <a:r>
              <a:rPr lang="en-US" sz="2400" dirty="0">
                <a:solidFill>
                  <a:srgbClr val="CFCBBF"/>
                </a:solidFill>
                <a:latin typeface="Prata" pitchFamily="34" charset="0"/>
                <a:ea typeface="Prata" pitchFamily="34" charset="-122"/>
                <a:cs typeface="Prata" pitchFamily="34" charset="-120"/>
              </a:rPr>
              <a:t>Therapeutic Applications</a:t>
            </a:r>
            <a:endParaRPr lang="en-US" sz="2400" dirty="0"/>
          </a:p>
        </p:txBody>
      </p:sp>
      <p:sp>
        <p:nvSpPr>
          <p:cNvPr id="8" name="Text 4"/>
          <p:cNvSpPr/>
          <p:nvPr/>
        </p:nvSpPr>
        <p:spPr>
          <a:xfrm>
            <a:off x="4182189" y="4256603"/>
            <a:ext cx="2947868" cy="2370296"/>
          </a:xfrm>
          <a:prstGeom prst="rect">
            <a:avLst/>
          </a:prstGeom>
          <a:noFill/>
          <a:ln/>
        </p:spPr>
        <p:txBody>
          <a:bodyPr wrap="square" lIns="0" tIns="0" rIns="0" bIns="0" rtlCol="0" anchor="t"/>
          <a:lstStyle/>
          <a:p>
            <a:pPr algn="l"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are employed in various therapeutic treatments, such as pain management, wound healing, and tumor destruction.</a:t>
            </a:r>
            <a:endParaRPr lang="en-US" sz="1900" dirty="0"/>
          </a:p>
        </p:txBody>
      </p:sp>
      <p:pic>
        <p:nvPicPr>
          <p:cNvPr id="9" name="Image 2" descr="preencoded.png">    </p:cNvPr>
          <p:cNvPicPr>
            <a:picLocks noChangeAspect="1"/>
          </p:cNvPicPr>
          <p:nvPr/>
        </p:nvPicPr>
        <p:blipFill>
          <a:blip r:embed="rId3"/>
          <a:stretch>
            <a:fillRect/>
          </a:stretch>
        </p:blipFill>
        <p:spPr>
          <a:xfrm>
            <a:off x="7500342" y="2472928"/>
            <a:ext cx="617220" cy="617220"/>
          </a:xfrm>
          <a:prstGeom prst="rect">
            <a:avLst/>
          </a:prstGeom>
        </p:spPr>
      </p:pic>
      <p:sp>
        <p:nvSpPr>
          <p:cNvPr id="10" name="Text 5"/>
          <p:cNvSpPr/>
          <p:nvPr/>
        </p:nvSpPr>
        <p:spPr>
          <a:xfrm>
            <a:off x="7500342" y="3336965"/>
            <a:ext cx="2947868" cy="385763"/>
          </a:xfrm>
          <a:prstGeom prst="rect">
            <a:avLst/>
          </a:prstGeom>
          <a:noFill/>
          <a:ln/>
        </p:spPr>
        <p:txBody>
          <a:bodyPr wrap="none" lIns="0" tIns="0" rIns="0" bIns="0" rtlCol="0" anchor="t"/>
          <a:lstStyle/>
          <a:p>
            <a:pPr algn="l" indent="0" marL="0">
              <a:lnSpc>
                <a:spcPts val="3000"/>
              </a:lnSpc>
              <a:buNone/>
            </a:pPr>
            <a:r>
              <a:rPr lang="en-US" sz="2400" dirty="0">
                <a:solidFill>
                  <a:srgbClr val="CFCBBF"/>
                </a:solidFill>
                <a:latin typeface="Prata" pitchFamily="34" charset="0"/>
                <a:ea typeface="Prata" pitchFamily="34" charset="-122"/>
                <a:cs typeface="Prata" pitchFamily="34" charset="-120"/>
              </a:rPr>
              <a:t>Diagnostic Imaging</a:t>
            </a:r>
            <a:endParaRPr lang="en-US" sz="2400" dirty="0"/>
          </a:p>
        </p:txBody>
      </p:sp>
      <p:sp>
        <p:nvSpPr>
          <p:cNvPr id="11" name="Text 6"/>
          <p:cNvSpPr/>
          <p:nvPr/>
        </p:nvSpPr>
        <p:spPr>
          <a:xfrm>
            <a:off x="7500342" y="3870841"/>
            <a:ext cx="2947868" cy="2370296"/>
          </a:xfrm>
          <a:prstGeom prst="rect">
            <a:avLst/>
          </a:prstGeom>
          <a:noFill/>
          <a:ln/>
        </p:spPr>
        <p:txBody>
          <a:bodyPr wrap="square" lIns="0" tIns="0" rIns="0" bIns="0" rtlCol="0" anchor="t"/>
          <a:lstStyle/>
          <a:p>
            <a:pPr algn="l" indent="0" marL="0">
              <a:lnSpc>
                <a:spcPts val="3100"/>
              </a:lnSpc>
              <a:buNone/>
            </a:pPr>
            <a:r>
              <a:rPr lang="en-US" sz="1900" dirty="0">
                <a:solidFill>
                  <a:srgbClr val="CFCBBF"/>
                </a:solidFill>
                <a:latin typeface="Raleway" pitchFamily="34" charset="0"/>
                <a:ea typeface="Raleway" pitchFamily="34" charset="-122"/>
                <a:cs typeface="Raleway" pitchFamily="34" charset="-120"/>
              </a:rPr>
              <a:t>Laser-based imaging techniques, like optical coherence tomography (OCT), provide high-resolution, non-invasive diagnostics.</a:t>
            </a:r>
            <a:endParaRPr lang="en-US" sz="1900" dirty="0"/>
          </a:p>
        </p:txBody>
      </p:sp>
      <p:pic>
        <p:nvPicPr>
          <p:cNvPr id="12" name="Image 3" descr="preencoded.png">    </p:cNvPr>
          <p:cNvPicPr>
            <a:picLocks noChangeAspect="1"/>
          </p:cNvPicPr>
          <p:nvPr/>
        </p:nvPicPr>
        <p:blipFill>
          <a:blip r:embed="rId4"/>
          <a:stretch>
            <a:fillRect/>
          </a:stretch>
        </p:blipFill>
        <p:spPr>
          <a:xfrm>
            <a:off x="10818495" y="2472928"/>
            <a:ext cx="617220" cy="617220"/>
          </a:xfrm>
          <a:prstGeom prst="rect">
            <a:avLst/>
          </a:prstGeom>
        </p:spPr>
      </p:pic>
      <p:sp>
        <p:nvSpPr>
          <p:cNvPr id="13" name="Text 7"/>
          <p:cNvSpPr/>
          <p:nvPr/>
        </p:nvSpPr>
        <p:spPr>
          <a:xfrm>
            <a:off x="10818495" y="3336965"/>
            <a:ext cx="2947868" cy="385763"/>
          </a:xfrm>
          <a:prstGeom prst="rect">
            <a:avLst/>
          </a:prstGeom>
          <a:noFill/>
          <a:ln/>
        </p:spPr>
        <p:txBody>
          <a:bodyPr wrap="none" lIns="0" tIns="0" rIns="0" bIns="0" rtlCol="0" anchor="t"/>
          <a:lstStyle/>
          <a:p>
            <a:pPr algn="l" indent="0" marL="0">
              <a:lnSpc>
                <a:spcPts val="3000"/>
              </a:lnSpc>
              <a:buNone/>
            </a:pPr>
            <a:r>
              <a:rPr lang="en-US" sz="2400" dirty="0">
                <a:solidFill>
                  <a:srgbClr val="CFCBBF"/>
                </a:solidFill>
                <a:latin typeface="Prata" pitchFamily="34" charset="0"/>
                <a:ea typeface="Prata" pitchFamily="34" charset="-122"/>
                <a:cs typeface="Prata" pitchFamily="34" charset="-120"/>
              </a:rPr>
              <a:t>Dental Applications</a:t>
            </a:r>
            <a:endParaRPr lang="en-US" sz="2400" dirty="0"/>
          </a:p>
        </p:txBody>
      </p:sp>
      <p:sp>
        <p:nvSpPr>
          <p:cNvPr id="14" name="Text 8"/>
          <p:cNvSpPr/>
          <p:nvPr/>
        </p:nvSpPr>
        <p:spPr>
          <a:xfrm>
            <a:off x="10818495" y="3870841"/>
            <a:ext cx="2947868" cy="1975247"/>
          </a:xfrm>
          <a:prstGeom prst="rect">
            <a:avLst/>
          </a:prstGeom>
          <a:noFill/>
          <a:ln/>
        </p:spPr>
        <p:txBody>
          <a:bodyPr wrap="square" lIns="0" tIns="0" rIns="0" bIns="0" rtlCol="0" anchor="t"/>
          <a:lstStyle/>
          <a:p>
            <a:pPr algn="l"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are used in dentistry for tooth whitening, cavity removal, and soft tissue treatments.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alpha val="80000"/>
            </a:srgbClr>
          </a:solidFill>
          <a:ln/>
        </p:spPr>
      </p:sp>
      <p:sp>
        <p:nvSpPr>
          <p:cNvPr id="4" name="Text 1"/>
          <p:cNvSpPr/>
          <p:nvPr/>
        </p:nvSpPr>
        <p:spPr>
          <a:xfrm>
            <a:off x="864037" y="1486972"/>
            <a:ext cx="8605361" cy="771525"/>
          </a:xfrm>
          <a:prstGeom prst="rect">
            <a:avLst/>
          </a:prstGeom>
          <a:noFill/>
          <a:ln/>
        </p:spPr>
        <p:txBody>
          <a:bodyPr wrap="none" lIns="0" tIns="0" rIns="0" bIns="0" rtlCol="0" anchor="t"/>
          <a:lstStyle/>
          <a:p>
            <a:pPr indent="0" marL="0">
              <a:lnSpc>
                <a:spcPts val="6050"/>
              </a:lnSpc>
              <a:buNone/>
            </a:pPr>
            <a:r>
              <a:rPr lang="en-US" sz="4850" dirty="0">
                <a:solidFill>
                  <a:srgbClr val="F2E782"/>
                </a:solidFill>
                <a:latin typeface="Prata" pitchFamily="34" charset="0"/>
                <a:ea typeface="Prata" pitchFamily="34" charset="-122"/>
                <a:cs typeface="Prata" pitchFamily="34" charset="-120"/>
              </a:rPr>
              <a:t>Laser Safety and Regulations</a:t>
            </a:r>
            <a:endParaRPr lang="en-US" sz="4850" dirty="0"/>
          </a:p>
        </p:txBody>
      </p:sp>
      <p:pic>
        <p:nvPicPr>
          <p:cNvPr id="5" name="Image 1" descr="preencoded.png">    </p:cNvPr>
          <p:cNvPicPr>
            <a:picLocks noChangeAspect="1"/>
          </p:cNvPicPr>
          <p:nvPr/>
        </p:nvPicPr>
        <p:blipFill>
          <a:blip r:embed="rId2"/>
          <a:stretch>
            <a:fillRect/>
          </a:stretch>
        </p:blipFill>
        <p:spPr>
          <a:xfrm>
            <a:off x="864037" y="2628781"/>
            <a:ext cx="4300776" cy="987504"/>
          </a:xfrm>
          <a:prstGeom prst="rect">
            <a:avLst/>
          </a:prstGeom>
        </p:spPr>
      </p:pic>
      <p:sp>
        <p:nvSpPr>
          <p:cNvPr id="6" name="Text 2"/>
          <p:cNvSpPr/>
          <p:nvPr/>
        </p:nvSpPr>
        <p:spPr>
          <a:xfrm>
            <a:off x="1110853" y="3986570"/>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CFCBBF"/>
                </a:solidFill>
                <a:latin typeface="Prata" pitchFamily="34" charset="0"/>
                <a:ea typeface="Prata" pitchFamily="34" charset="-122"/>
                <a:cs typeface="Prata" pitchFamily="34" charset="-120"/>
              </a:rPr>
              <a:t>Laser Classification</a:t>
            </a:r>
            <a:endParaRPr lang="en-US" sz="2400" dirty="0"/>
          </a:p>
        </p:txBody>
      </p:sp>
      <p:sp>
        <p:nvSpPr>
          <p:cNvPr id="7" name="Text 3"/>
          <p:cNvSpPr/>
          <p:nvPr/>
        </p:nvSpPr>
        <p:spPr>
          <a:xfrm>
            <a:off x="1110853" y="4520446"/>
            <a:ext cx="3807143" cy="1580198"/>
          </a:xfrm>
          <a:prstGeom prst="rect">
            <a:avLst/>
          </a:prstGeom>
          <a:noFill/>
          <a:ln/>
        </p:spPr>
        <p:txBody>
          <a:bodyPr wrap="square" lIns="0" tIns="0" rIns="0" bIns="0" rtlCol="0" anchor="t"/>
          <a:lstStyle/>
          <a:p>
            <a:pPr algn="l" indent="0" marL="0">
              <a:lnSpc>
                <a:spcPts val="3100"/>
              </a:lnSpc>
              <a:buNone/>
            </a:pPr>
            <a:r>
              <a:rPr lang="en-US" sz="1900" dirty="0">
                <a:solidFill>
                  <a:srgbClr val="CFCBBF"/>
                </a:solidFill>
                <a:latin typeface="Raleway" pitchFamily="34" charset="0"/>
                <a:ea typeface="Raleway" pitchFamily="34" charset="-122"/>
                <a:cs typeface="Raleway" pitchFamily="34" charset="-120"/>
              </a:rPr>
              <a:t>Lasers are classified based on their power output and potential hazards, with strict safety protocols for each class.</a:t>
            </a:r>
            <a:endParaRPr lang="en-US" sz="1900" dirty="0"/>
          </a:p>
        </p:txBody>
      </p:sp>
      <p:pic>
        <p:nvPicPr>
          <p:cNvPr id="8" name="Image 2" descr="preencoded.png">    </p:cNvPr>
          <p:cNvPicPr>
            <a:picLocks noChangeAspect="1"/>
          </p:cNvPicPr>
          <p:nvPr/>
        </p:nvPicPr>
        <p:blipFill>
          <a:blip r:embed="rId3"/>
          <a:stretch>
            <a:fillRect/>
          </a:stretch>
        </p:blipFill>
        <p:spPr>
          <a:xfrm>
            <a:off x="5164812" y="2628781"/>
            <a:ext cx="4300776" cy="987504"/>
          </a:xfrm>
          <a:prstGeom prst="rect">
            <a:avLst/>
          </a:prstGeom>
        </p:spPr>
      </p:pic>
      <p:sp>
        <p:nvSpPr>
          <p:cNvPr id="9" name="Text 4"/>
          <p:cNvSpPr/>
          <p:nvPr/>
        </p:nvSpPr>
        <p:spPr>
          <a:xfrm>
            <a:off x="5411629" y="3986570"/>
            <a:ext cx="3086100" cy="385763"/>
          </a:xfrm>
          <a:prstGeom prst="rect">
            <a:avLst/>
          </a:prstGeom>
          <a:noFill/>
          <a:ln/>
        </p:spPr>
        <p:txBody>
          <a:bodyPr wrap="none" lIns="0" tIns="0" rIns="0" bIns="0" rtlCol="0" anchor="t"/>
          <a:lstStyle/>
          <a:p>
            <a:pPr algn="l" indent="0" marL="0">
              <a:lnSpc>
                <a:spcPts val="3000"/>
              </a:lnSpc>
              <a:buNone/>
            </a:pPr>
            <a:r>
              <a:rPr lang="en-US" sz="2400" dirty="0">
                <a:solidFill>
                  <a:srgbClr val="CFCBBF"/>
                </a:solidFill>
                <a:latin typeface="Prata" pitchFamily="34" charset="0"/>
                <a:ea typeface="Prata" pitchFamily="34" charset="-122"/>
                <a:cs typeface="Prata" pitchFamily="34" charset="-120"/>
              </a:rPr>
              <a:t>Protective Measures</a:t>
            </a:r>
            <a:endParaRPr lang="en-US" sz="2400" dirty="0"/>
          </a:p>
        </p:txBody>
      </p:sp>
      <p:sp>
        <p:nvSpPr>
          <p:cNvPr id="10" name="Text 5"/>
          <p:cNvSpPr/>
          <p:nvPr/>
        </p:nvSpPr>
        <p:spPr>
          <a:xfrm>
            <a:off x="5411629" y="4520446"/>
            <a:ext cx="3807143" cy="1975247"/>
          </a:xfrm>
          <a:prstGeom prst="rect">
            <a:avLst/>
          </a:prstGeom>
          <a:noFill/>
          <a:ln/>
        </p:spPr>
        <p:txBody>
          <a:bodyPr wrap="square" lIns="0" tIns="0" rIns="0" bIns="0" rtlCol="0" anchor="t"/>
          <a:lstStyle/>
          <a:p>
            <a:pPr algn="l" indent="0" marL="0">
              <a:lnSpc>
                <a:spcPts val="3100"/>
              </a:lnSpc>
              <a:buNone/>
            </a:pPr>
            <a:r>
              <a:rPr lang="en-US" sz="1900" dirty="0">
                <a:solidFill>
                  <a:srgbClr val="CFCBBF"/>
                </a:solidFill>
                <a:latin typeface="Raleway" pitchFamily="34" charset="0"/>
                <a:ea typeface="Raleway" pitchFamily="34" charset="-122"/>
                <a:cs typeface="Raleway" pitchFamily="34" charset="-120"/>
              </a:rPr>
              <a:t>Proper safety equipment, engineering controls, and administrative procedures are essential to mitigate the risks of laser use.</a:t>
            </a:r>
            <a:endParaRPr lang="en-US" sz="1900" dirty="0"/>
          </a:p>
        </p:txBody>
      </p:sp>
      <p:pic>
        <p:nvPicPr>
          <p:cNvPr id="11" name="Image 3" descr="preencoded.png">    </p:cNvPr>
          <p:cNvPicPr>
            <a:picLocks noChangeAspect="1"/>
          </p:cNvPicPr>
          <p:nvPr/>
        </p:nvPicPr>
        <p:blipFill>
          <a:blip r:embed="rId4"/>
          <a:stretch>
            <a:fillRect/>
          </a:stretch>
        </p:blipFill>
        <p:spPr>
          <a:xfrm>
            <a:off x="9465588" y="2628781"/>
            <a:ext cx="4300776" cy="987504"/>
          </a:xfrm>
          <a:prstGeom prst="rect">
            <a:avLst/>
          </a:prstGeom>
        </p:spPr>
      </p:pic>
      <p:sp>
        <p:nvSpPr>
          <p:cNvPr id="12" name="Text 6"/>
          <p:cNvSpPr/>
          <p:nvPr/>
        </p:nvSpPr>
        <p:spPr>
          <a:xfrm>
            <a:off x="9712404" y="3986570"/>
            <a:ext cx="3474125" cy="385763"/>
          </a:xfrm>
          <a:prstGeom prst="rect">
            <a:avLst/>
          </a:prstGeom>
          <a:noFill/>
          <a:ln/>
        </p:spPr>
        <p:txBody>
          <a:bodyPr wrap="none" lIns="0" tIns="0" rIns="0" bIns="0" rtlCol="0" anchor="t"/>
          <a:lstStyle/>
          <a:p>
            <a:pPr algn="l" indent="0" marL="0">
              <a:lnSpc>
                <a:spcPts val="3000"/>
              </a:lnSpc>
              <a:buNone/>
            </a:pPr>
            <a:r>
              <a:rPr lang="en-US" sz="2400" dirty="0">
                <a:solidFill>
                  <a:srgbClr val="CFCBBF"/>
                </a:solidFill>
                <a:latin typeface="Prata" pitchFamily="34" charset="0"/>
                <a:ea typeface="Prata" pitchFamily="34" charset="-122"/>
                <a:cs typeface="Prata" pitchFamily="34" charset="-120"/>
              </a:rPr>
              <a:t>Regulatory Compliance</a:t>
            </a:r>
            <a:endParaRPr lang="en-US" sz="2400" dirty="0"/>
          </a:p>
        </p:txBody>
      </p:sp>
      <p:sp>
        <p:nvSpPr>
          <p:cNvPr id="13" name="Text 7"/>
          <p:cNvSpPr/>
          <p:nvPr/>
        </p:nvSpPr>
        <p:spPr>
          <a:xfrm>
            <a:off x="9712404" y="4520446"/>
            <a:ext cx="3807143" cy="1975247"/>
          </a:xfrm>
          <a:prstGeom prst="rect">
            <a:avLst/>
          </a:prstGeom>
          <a:noFill/>
          <a:ln/>
        </p:spPr>
        <p:txBody>
          <a:bodyPr wrap="square" lIns="0" tIns="0" rIns="0" bIns="0" rtlCol="0" anchor="t"/>
          <a:lstStyle/>
          <a:p>
            <a:pPr algn="l" indent="0" marL="0">
              <a:lnSpc>
                <a:spcPts val="3100"/>
              </a:lnSpc>
              <a:buNone/>
            </a:pPr>
            <a:r>
              <a:rPr lang="en-US" sz="1900" dirty="0">
                <a:solidFill>
                  <a:srgbClr val="CFCBBF"/>
                </a:solidFill>
                <a:latin typeface="Raleway" pitchFamily="34" charset="0"/>
                <a:ea typeface="Raleway" pitchFamily="34" charset="-122"/>
                <a:cs typeface="Raleway" pitchFamily="34" charset="-120"/>
              </a:rPr>
              <a:t>Laser users must adhere to national and international safety standards and regulations to ensure the safe operation of lasers.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6047" y="594360"/>
            <a:ext cx="13118306" cy="1350169"/>
          </a:xfrm>
          <a:prstGeom prst="rect">
            <a:avLst/>
          </a:prstGeom>
          <a:noFill/>
          <a:ln/>
        </p:spPr>
        <p:txBody>
          <a:bodyPr wrap="square" lIns="0" tIns="0" rIns="0" bIns="0" rtlCol="0" anchor="t"/>
          <a:lstStyle/>
          <a:p>
            <a:pPr indent="0" marL="0">
              <a:lnSpc>
                <a:spcPts val="5300"/>
              </a:lnSpc>
              <a:buNone/>
            </a:pPr>
            <a:r>
              <a:rPr lang="en-US" sz="4250" dirty="0">
                <a:solidFill>
                  <a:srgbClr val="F2E782"/>
                </a:solidFill>
                <a:latin typeface="Prata" pitchFamily="34" charset="0"/>
                <a:ea typeface="Prata" pitchFamily="34" charset="-122"/>
                <a:cs typeface="Prata" pitchFamily="34" charset="-120"/>
              </a:rPr>
              <a:t>Emerging Trends and Future Developments in Laser Technology</a:t>
            </a:r>
            <a:endParaRPr lang="en-US" sz="4250" dirty="0"/>
          </a:p>
        </p:txBody>
      </p:sp>
      <p:sp>
        <p:nvSpPr>
          <p:cNvPr id="3" name="Shape 1"/>
          <p:cNvSpPr/>
          <p:nvPr/>
        </p:nvSpPr>
        <p:spPr>
          <a:xfrm>
            <a:off x="756047" y="2376488"/>
            <a:ext cx="13118306" cy="5258753"/>
          </a:xfrm>
          <a:prstGeom prst="roundRect">
            <a:avLst>
              <a:gd name="adj" fmla="val 616"/>
            </a:avLst>
          </a:prstGeom>
          <a:noFill/>
          <a:ln w="7620">
            <a:solidFill>
              <a:srgbClr val="FFFFFF">
                <a:alpha val="24000"/>
              </a:srgbClr>
            </a:solidFill>
            <a:prstDash val="solid"/>
          </a:ln>
        </p:spPr>
      </p:sp>
      <p:sp>
        <p:nvSpPr>
          <p:cNvPr id="4" name="Shape 2"/>
          <p:cNvSpPr/>
          <p:nvPr/>
        </p:nvSpPr>
        <p:spPr>
          <a:xfrm>
            <a:off x="763667" y="2384108"/>
            <a:ext cx="13103066" cy="1310878"/>
          </a:xfrm>
          <a:prstGeom prst="rect">
            <a:avLst/>
          </a:prstGeom>
          <a:solidFill>
            <a:srgbClr val="FFFFFF">
              <a:alpha val="4000"/>
            </a:srgbClr>
          </a:solidFill>
          <a:ln/>
        </p:spPr>
      </p:sp>
      <p:sp>
        <p:nvSpPr>
          <p:cNvPr id="5" name="Text 3"/>
          <p:cNvSpPr/>
          <p:nvPr/>
        </p:nvSpPr>
        <p:spPr>
          <a:xfrm>
            <a:off x="979646" y="2521268"/>
            <a:ext cx="6115764" cy="345519"/>
          </a:xfrm>
          <a:prstGeom prst="rect">
            <a:avLst/>
          </a:prstGeom>
          <a:noFill/>
          <a:ln/>
        </p:spPr>
        <p:txBody>
          <a:bodyPr wrap="non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Ultrafast Lasers</a:t>
            </a:r>
            <a:endParaRPr lang="en-US" sz="1700" dirty="0"/>
          </a:p>
        </p:txBody>
      </p:sp>
      <p:sp>
        <p:nvSpPr>
          <p:cNvPr id="6" name="Text 4"/>
          <p:cNvSpPr/>
          <p:nvPr/>
        </p:nvSpPr>
        <p:spPr>
          <a:xfrm>
            <a:off x="7534989" y="2521268"/>
            <a:ext cx="6115764" cy="1036558"/>
          </a:xfrm>
          <a:prstGeom prst="rect">
            <a:avLst/>
          </a:prstGeom>
          <a:noFill/>
          <a:ln/>
        </p:spPr>
        <p:txBody>
          <a:bodyPr wrap="squar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Generating pulses in the femtosecond and picosecond ranges, enabling new applications in materials processing and scientific research.</a:t>
            </a:r>
            <a:endParaRPr lang="en-US" sz="1700" dirty="0"/>
          </a:p>
        </p:txBody>
      </p:sp>
      <p:sp>
        <p:nvSpPr>
          <p:cNvPr id="7" name="Shape 5"/>
          <p:cNvSpPr/>
          <p:nvPr/>
        </p:nvSpPr>
        <p:spPr>
          <a:xfrm>
            <a:off x="763667" y="3694986"/>
            <a:ext cx="13103066" cy="1310878"/>
          </a:xfrm>
          <a:prstGeom prst="rect">
            <a:avLst/>
          </a:prstGeom>
          <a:solidFill>
            <a:srgbClr val="000000">
              <a:alpha val="4000"/>
            </a:srgbClr>
          </a:solidFill>
          <a:ln/>
        </p:spPr>
      </p:sp>
      <p:sp>
        <p:nvSpPr>
          <p:cNvPr id="8" name="Text 6"/>
          <p:cNvSpPr/>
          <p:nvPr/>
        </p:nvSpPr>
        <p:spPr>
          <a:xfrm>
            <a:off x="979646" y="3832146"/>
            <a:ext cx="6115764" cy="345519"/>
          </a:xfrm>
          <a:prstGeom prst="rect">
            <a:avLst/>
          </a:prstGeom>
          <a:noFill/>
          <a:ln/>
        </p:spPr>
        <p:txBody>
          <a:bodyPr wrap="non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High-Power Lasers</a:t>
            </a:r>
            <a:endParaRPr lang="en-US" sz="1700" dirty="0"/>
          </a:p>
        </p:txBody>
      </p:sp>
      <p:sp>
        <p:nvSpPr>
          <p:cNvPr id="9" name="Text 7"/>
          <p:cNvSpPr/>
          <p:nvPr/>
        </p:nvSpPr>
        <p:spPr>
          <a:xfrm>
            <a:off x="7534989" y="3832146"/>
            <a:ext cx="6115764" cy="1036558"/>
          </a:xfrm>
          <a:prstGeom prst="rect">
            <a:avLst/>
          </a:prstGeom>
          <a:noFill/>
          <a:ln/>
        </p:spPr>
        <p:txBody>
          <a:bodyPr wrap="squar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Advancements in laser power and efficiency are leading to increased use in industrial, defense, and fusion energy applications.</a:t>
            </a:r>
            <a:endParaRPr lang="en-US" sz="1700" dirty="0"/>
          </a:p>
        </p:txBody>
      </p:sp>
      <p:sp>
        <p:nvSpPr>
          <p:cNvPr id="10" name="Shape 8"/>
          <p:cNvSpPr/>
          <p:nvPr/>
        </p:nvSpPr>
        <p:spPr>
          <a:xfrm>
            <a:off x="763667" y="5005864"/>
            <a:ext cx="13103066" cy="1310878"/>
          </a:xfrm>
          <a:prstGeom prst="rect">
            <a:avLst/>
          </a:prstGeom>
          <a:solidFill>
            <a:srgbClr val="FFFFFF">
              <a:alpha val="4000"/>
            </a:srgbClr>
          </a:solidFill>
          <a:ln/>
        </p:spPr>
      </p:sp>
      <p:sp>
        <p:nvSpPr>
          <p:cNvPr id="11" name="Text 9"/>
          <p:cNvSpPr/>
          <p:nvPr/>
        </p:nvSpPr>
        <p:spPr>
          <a:xfrm>
            <a:off x="979646" y="5143024"/>
            <a:ext cx="6115764" cy="345519"/>
          </a:xfrm>
          <a:prstGeom prst="rect">
            <a:avLst/>
          </a:prstGeom>
          <a:noFill/>
          <a:ln/>
        </p:spPr>
        <p:txBody>
          <a:bodyPr wrap="non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Integrated Photonics</a:t>
            </a:r>
            <a:endParaRPr lang="en-US" sz="1700" dirty="0"/>
          </a:p>
        </p:txBody>
      </p:sp>
      <p:sp>
        <p:nvSpPr>
          <p:cNvPr id="12" name="Text 10"/>
          <p:cNvSpPr/>
          <p:nvPr/>
        </p:nvSpPr>
        <p:spPr>
          <a:xfrm>
            <a:off x="7534989" y="5143024"/>
            <a:ext cx="6115764" cy="1036558"/>
          </a:xfrm>
          <a:prstGeom prst="rect">
            <a:avLst/>
          </a:prstGeom>
          <a:noFill/>
          <a:ln/>
        </p:spPr>
        <p:txBody>
          <a:bodyPr wrap="squar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The integration of lasers with other photonic components on a single chip is paving the way for miniaturized, low-cost devices.</a:t>
            </a:r>
            <a:endParaRPr lang="en-US" sz="1700" dirty="0"/>
          </a:p>
        </p:txBody>
      </p:sp>
      <p:sp>
        <p:nvSpPr>
          <p:cNvPr id="13" name="Shape 11"/>
          <p:cNvSpPr/>
          <p:nvPr/>
        </p:nvSpPr>
        <p:spPr>
          <a:xfrm>
            <a:off x="763667" y="6316742"/>
            <a:ext cx="13103066" cy="1310878"/>
          </a:xfrm>
          <a:prstGeom prst="rect">
            <a:avLst/>
          </a:prstGeom>
          <a:solidFill>
            <a:srgbClr val="000000">
              <a:alpha val="4000"/>
            </a:srgbClr>
          </a:solidFill>
          <a:ln/>
        </p:spPr>
      </p:sp>
      <p:sp>
        <p:nvSpPr>
          <p:cNvPr id="14" name="Text 12"/>
          <p:cNvSpPr/>
          <p:nvPr/>
        </p:nvSpPr>
        <p:spPr>
          <a:xfrm>
            <a:off x="979646" y="6453902"/>
            <a:ext cx="6115764" cy="345519"/>
          </a:xfrm>
          <a:prstGeom prst="rect">
            <a:avLst/>
          </a:prstGeom>
          <a:noFill/>
          <a:ln/>
        </p:spPr>
        <p:txBody>
          <a:bodyPr wrap="non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Quantum Optics</a:t>
            </a:r>
            <a:endParaRPr lang="en-US" sz="1700" dirty="0"/>
          </a:p>
        </p:txBody>
      </p:sp>
      <p:sp>
        <p:nvSpPr>
          <p:cNvPr id="15" name="Text 13"/>
          <p:cNvSpPr/>
          <p:nvPr/>
        </p:nvSpPr>
        <p:spPr>
          <a:xfrm>
            <a:off x="7534989" y="6453902"/>
            <a:ext cx="6115764" cy="1036558"/>
          </a:xfrm>
          <a:prstGeom prst="rect">
            <a:avLst/>
          </a:prstGeom>
          <a:noFill/>
          <a:ln/>
        </p:spPr>
        <p:txBody>
          <a:bodyPr wrap="square" lIns="0" tIns="0" rIns="0" bIns="0" rtlCol="0" anchor="t"/>
          <a:lstStyle/>
          <a:p>
            <a:pPr indent="0" marL="0">
              <a:lnSpc>
                <a:spcPts val="2700"/>
              </a:lnSpc>
              <a:buNone/>
            </a:pPr>
            <a:r>
              <a:rPr lang="en-US" sz="1700" dirty="0">
                <a:solidFill>
                  <a:srgbClr val="CFCBBF"/>
                </a:solidFill>
                <a:latin typeface="Raleway" pitchFamily="34" charset="0"/>
                <a:ea typeface="Raleway" pitchFamily="34" charset="-122"/>
                <a:cs typeface="Raleway" pitchFamily="34" charset="-120"/>
              </a:rPr>
              <a:t>Harnessing the properties of quantum mechanics, lasers are enabling breakthroughs in quantum computing, cryptography, and sensing.</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4037" y="1266468"/>
            <a:ext cx="6838236" cy="771525"/>
          </a:xfrm>
          <a:prstGeom prst="rect">
            <a:avLst/>
          </a:prstGeom>
          <a:noFill/>
          <a:ln/>
        </p:spPr>
        <p:txBody>
          <a:bodyPr wrap="none" lIns="0" tIns="0" rIns="0" bIns="0" rtlCol="0" anchor="t"/>
          <a:lstStyle/>
          <a:p>
            <a:pPr indent="0" marL="0">
              <a:lnSpc>
                <a:spcPts val="6050"/>
              </a:lnSpc>
              <a:buNone/>
            </a:pPr>
            <a:r>
              <a:rPr lang="en-US" sz="4850" dirty="0">
                <a:solidFill>
                  <a:srgbClr val="F2E782"/>
                </a:solidFill>
                <a:latin typeface="Prata" pitchFamily="34" charset="0"/>
                <a:ea typeface="Prata" pitchFamily="34" charset="-122"/>
                <a:cs typeface="Prata" pitchFamily="34" charset="-120"/>
              </a:rPr>
              <a:t>Information of student:</a:t>
            </a:r>
            <a:endParaRPr lang="en-US" sz="4850" dirty="0"/>
          </a:p>
        </p:txBody>
      </p:sp>
      <p:sp>
        <p:nvSpPr>
          <p:cNvPr id="3" name="Text 1"/>
          <p:cNvSpPr/>
          <p:nvPr/>
        </p:nvSpPr>
        <p:spPr>
          <a:xfrm>
            <a:off x="864037" y="2531745"/>
            <a:ext cx="12902327" cy="395049"/>
          </a:xfrm>
          <a:prstGeom prst="rect">
            <a:avLst/>
          </a:prstGeom>
          <a:noFill/>
          <a:ln/>
        </p:spPr>
        <p:txBody>
          <a:bodyPr wrap="non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Name:- Narola Yagnesh Jagdishbhai</a:t>
            </a:r>
            <a:endParaRPr lang="en-US" sz="1900" dirty="0"/>
          </a:p>
        </p:txBody>
      </p:sp>
      <p:sp>
        <p:nvSpPr>
          <p:cNvPr id="4" name="Text 2"/>
          <p:cNvSpPr/>
          <p:nvPr/>
        </p:nvSpPr>
        <p:spPr>
          <a:xfrm>
            <a:off x="864037" y="3204448"/>
            <a:ext cx="12902327" cy="395049"/>
          </a:xfrm>
          <a:prstGeom prst="rect">
            <a:avLst/>
          </a:prstGeom>
          <a:noFill/>
          <a:ln/>
        </p:spPr>
        <p:txBody>
          <a:bodyPr wrap="non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Enrollment number :- 236470316068</a:t>
            </a:r>
            <a:endParaRPr lang="en-US" sz="1900" dirty="0"/>
          </a:p>
        </p:txBody>
      </p:sp>
      <p:sp>
        <p:nvSpPr>
          <p:cNvPr id="5" name="Text 3"/>
          <p:cNvSpPr/>
          <p:nvPr/>
        </p:nvSpPr>
        <p:spPr>
          <a:xfrm>
            <a:off x="864037" y="3877151"/>
            <a:ext cx="12902327" cy="395049"/>
          </a:xfrm>
          <a:prstGeom prst="rect">
            <a:avLst/>
          </a:prstGeom>
          <a:noFill/>
          <a:ln/>
        </p:spPr>
        <p:txBody>
          <a:bodyPr wrap="non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Branch :- IT </a:t>
            </a:r>
            <a:endParaRPr lang="en-US" sz="1900" dirty="0"/>
          </a:p>
        </p:txBody>
      </p:sp>
      <p:sp>
        <p:nvSpPr>
          <p:cNvPr id="6" name="Text 4"/>
          <p:cNvSpPr/>
          <p:nvPr/>
        </p:nvSpPr>
        <p:spPr>
          <a:xfrm>
            <a:off x="864037" y="4549854"/>
            <a:ext cx="12902327" cy="395049"/>
          </a:xfrm>
          <a:prstGeom prst="rect">
            <a:avLst/>
          </a:prstGeom>
          <a:noFill/>
          <a:ln/>
        </p:spPr>
        <p:txBody>
          <a:bodyPr wrap="non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Class Code :- 2321</a:t>
            </a:r>
            <a:endParaRPr lang="en-US" sz="1900" dirty="0"/>
          </a:p>
        </p:txBody>
      </p:sp>
      <p:sp>
        <p:nvSpPr>
          <p:cNvPr id="7" name="Text 5"/>
          <p:cNvSpPr/>
          <p:nvPr/>
        </p:nvSpPr>
        <p:spPr>
          <a:xfrm>
            <a:off x="864037" y="5222558"/>
            <a:ext cx="12902327" cy="395049"/>
          </a:xfrm>
          <a:prstGeom prst="rect">
            <a:avLst/>
          </a:prstGeom>
          <a:noFill/>
          <a:ln/>
        </p:spPr>
        <p:txBody>
          <a:bodyPr wrap="non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Subject :- Physics</a:t>
            </a:r>
            <a:endParaRPr lang="en-US" sz="1900" dirty="0"/>
          </a:p>
        </p:txBody>
      </p:sp>
      <p:sp>
        <p:nvSpPr>
          <p:cNvPr id="8" name="Text 6"/>
          <p:cNvSpPr/>
          <p:nvPr/>
        </p:nvSpPr>
        <p:spPr>
          <a:xfrm>
            <a:off x="864037" y="5895261"/>
            <a:ext cx="12902327" cy="395049"/>
          </a:xfrm>
          <a:prstGeom prst="rect">
            <a:avLst/>
          </a:prstGeom>
          <a:noFill/>
          <a:ln/>
        </p:spPr>
        <p:txBody>
          <a:bodyPr wrap="none" lIns="0" tIns="0" rIns="0" bIns="0" rtlCol="0" anchor="t"/>
          <a:lstStyle/>
          <a:p>
            <a:pPr indent="0" marL="0">
              <a:lnSpc>
                <a:spcPts val="3100"/>
              </a:lnSpc>
              <a:buNone/>
            </a:pPr>
            <a:endParaRPr lang="en-US" sz="1900" dirty="0"/>
          </a:p>
        </p:txBody>
      </p:sp>
      <p:sp>
        <p:nvSpPr>
          <p:cNvPr id="9" name="Text 7"/>
          <p:cNvSpPr/>
          <p:nvPr/>
        </p:nvSpPr>
        <p:spPr>
          <a:xfrm>
            <a:off x="864037" y="6567964"/>
            <a:ext cx="12902327" cy="395049"/>
          </a:xfrm>
          <a:prstGeom prst="rect">
            <a:avLst/>
          </a:prstGeom>
          <a:noFill/>
          <a:ln/>
        </p:spPr>
        <p:txBody>
          <a:bodyPr wrap="none" lIns="0" tIns="0" rIns="0" bIns="0" rtlCol="0" anchor="t"/>
          <a:lstStyle/>
          <a:p>
            <a:pPr indent="0" marL="0">
              <a:lnSpc>
                <a:spcPts val="3100"/>
              </a:lnSpc>
              <a:buNone/>
            </a:pPr>
            <a:r>
              <a:rPr lang="en-US" sz="1900" dirty="0">
                <a:solidFill>
                  <a:srgbClr val="CFCBBF"/>
                </a:solidFill>
                <a:latin typeface="Raleway" pitchFamily="34" charset="0"/>
                <a:ea typeface="Raleway" pitchFamily="34" charset="-122"/>
                <a:cs typeface="Raleway" pitchFamily="34" charset="-120"/>
              </a:rPr>
              <a:t>THANK YOU!!!</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2024-09-11T04:50:52Z</dcterms:created>
  <dcterms:modified xsi:type="dcterms:W3CDTF">2024-09-11T04:50:52Z</dcterms:modified>
</cp:coreProperties>
</file>