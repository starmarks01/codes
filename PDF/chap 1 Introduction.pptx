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3765E3D-98EF-4642-BF02-FD5BD78F60D2}" type="datetimeFigureOut">
              <a:rPr lang="en-IN" smtClean="0"/>
              <a:t>25-11-2023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310641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765E3D-98EF-4642-BF02-FD5BD78F60D2}" type="datetimeFigureOut">
              <a:rPr lang="en-IN" smtClean="0"/>
              <a:t>25-11-2023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358336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765E3D-98EF-4642-BF02-FD5BD78F60D2}" type="datetimeFigureOut">
              <a:rPr lang="en-IN" smtClean="0"/>
              <a:t>25-11-2023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672934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3765E3D-98EF-4642-BF02-FD5BD78F60D2}" type="datetimeFigureOut">
              <a:rPr lang="en-IN" smtClean="0"/>
              <a:t>25-11-2023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1297232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3765E3D-98EF-4642-BF02-FD5BD78F60D2}" type="datetimeFigureOut">
              <a:rPr lang="en-IN" smtClean="0"/>
              <a:t>25-11-2023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894915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3765E3D-98EF-4642-BF02-FD5BD78F60D2}" type="datetimeFigureOut">
              <a:rPr lang="en-IN" smtClean="0"/>
              <a:t>25-11-2023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403741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765E3D-98EF-4642-BF02-FD5BD78F60D2}" type="datetimeFigureOut">
              <a:rPr lang="en-IN" smtClean="0"/>
              <a:t>25-11-2023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2959069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765E3D-98EF-4642-BF02-FD5BD78F60D2}" type="datetimeFigureOut">
              <a:rPr lang="en-IN" smtClean="0"/>
              <a:t>25-11-2023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208062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765E3D-98EF-4642-BF02-FD5BD78F60D2}" type="datetimeFigureOut">
              <a:rPr lang="en-IN" smtClean="0"/>
              <a:t>25-11-2023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1041601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765E3D-98EF-4642-BF02-FD5BD78F60D2}" type="datetimeFigureOut">
              <a:rPr lang="en-IN" smtClean="0"/>
              <a:t>25-11-2023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153368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3765E3D-98EF-4642-BF02-FD5BD78F60D2}" type="datetimeFigureOut">
              <a:rPr lang="en-IN" smtClean="0"/>
              <a:t>25-11-2023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C9AB85-25A6-4285-AC3D-1081AC4B3E5B}" type="slidenum">
              <a:rPr lang="en-IN" smtClean="0"/>
              <a:t>‹#›</a:t>
            </a:fld>
            <a:endParaRPr lang="en-IN"/>
          </a:p>
        </p:txBody>
      </p:sp>
    </p:spTree>
    <p:extLst>
      <p:ext uri="{BB962C8B-B14F-4D97-AF65-F5344CB8AC3E}">
        <p14:creationId xmlns:p14="http://schemas.microsoft.com/office/powerpoint/2010/main" val="122570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765E3D-98EF-4642-BF02-FD5BD78F60D2}" type="datetimeFigureOut">
              <a:rPr lang="en-IN" smtClean="0"/>
              <a:t>25-11-2023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C9AB85-25A6-4285-AC3D-1081AC4B3E5B}" type="slidenum">
              <a:rPr lang="en-IN" smtClean="0"/>
              <a:t>‹#›</a:t>
            </a:fld>
            <a:endParaRPr lang="en-IN"/>
          </a:p>
        </p:txBody>
      </p:sp>
    </p:spTree>
    <p:extLst>
      <p:ext uri="{BB962C8B-B14F-4D97-AF65-F5344CB8AC3E}">
        <p14:creationId xmlns:p14="http://schemas.microsoft.com/office/powerpoint/2010/main" val="3298183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statistics</a:t>
            </a:r>
            <a:endParaRPr lang="en-IN" dirty="0"/>
          </a:p>
        </p:txBody>
      </p:sp>
    </p:spTree>
    <p:extLst>
      <p:ext uri="{BB962C8B-B14F-4D97-AF65-F5344CB8AC3E}">
        <p14:creationId xmlns:p14="http://schemas.microsoft.com/office/powerpoint/2010/main" val="97038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statistics</a:t>
            </a:r>
            <a:endParaRPr lang="en-IN" dirty="0"/>
          </a:p>
        </p:txBody>
      </p:sp>
      <p:sp>
        <p:nvSpPr>
          <p:cNvPr id="3" name="Content Placeholder 2"/>
          <p:cNvSpPr>
            <a:spLocks noGrp="1"/>
          </p:cNvSpPr>
          <p:nvPr>
            <p:ph idx="1"/>
          </p:nvPr>
        </p:nvSpPr>
        <p:spPr/>
        <p:txBody>
          <a:bodyPr>
            <a:normAutofit/>
          </a:bodyPr>
          <a:lstStyle/>
          <a:p>
            <a:r>
              <a:rPr lang="en-GB" sz="1800" dirty="0" smtClean="0"/>
              <a:t>Statistics is a mathematical science including methods of collectiing, organizing and analyzing data in such a way that meaningful conclusions can be drawn from them. In general, its investigations and analyses fall into two broad categories called descriptive and inferential statistics.</a:t>
            </a:r>
            <a:endParaRPr lang="en-IN" sz="1800" dirty="0"/>
          </a:p>
        </p:txBody>
      </p:sp>
    </p:spTree>
    <p:extLst>
      <p:ext uri="{BB962C8B-B14F-4D97-AF65-F5344CB8AC3E}">
        <p14:creationId xmlns:p14="http://schemas.microsoft.com/office/powerpoint/2010/main" val="2012053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Developing Statistical </a:t>
            </a:r>
            <a:r>
              <a:rPr lang="en-IN" dirty="0" smtClean="0"/>
              <a:t>Thinking</a:t>
            </a:r>
            <a:endParaRPr lang="en-IN" dirty="0"/>
          </a:p>
        </p:txBody>
      </p:sp>
      <p:sp>
        <p:nvSpPr>
          <p:cNvPr id="3" name="Content Placeholder 2"/>
          <p:cNvSpPr>
            <a:spLocks noGrp="1"/>
          </p:cNvSpPr>
          <p:nvPr>
            <p:ph idx="1"/>
          </p:nvPr>
        </p:nvSpPr>
        <p:spPr>
          <a:xfrm>
            <a:off x="838200" y="1466490"/>
            <a:ext cx="10515600" cy="5011947"/>
          </a:xfrm>
        </p:spPr>
        <p:txBody>
          <a:bodyPr>
            <a:normAutofit/>
          </a:bodyPr>
          <a:lstStyle/>
          <a:p>
            <a:pPr marL="0" indent="0">
              <a:buNone/>
            </a:pPr>
            <a:endParaRPr lang="en-IN" sz="2000" dirty="0"/>
          </a:p>
          <a:p>
            <a:r>
              <a:rPr lang="en-IN" sz="2000" dirty="0" smtClean="0"/>
              <a:t>Statistics </a:t>
            </a:r>
            <a:r>
              <a:rPr lang="en-IN" sz="2000" dirty="0"/>
              <a:t>include numerical facts and figures. For instance:</a:t>
            </a:r>
          </a:p>
          <a:p>
            <a:pPr marL="0" indent="0">
              <a:buNone/>
            </a:pPr>
            <a:r>
              <a:rPr lang="en-IN" sz="2000" dirty="0" smtClean="0"/>
              <a:t>	• </a:t>
            </a:r>
            <a:r>
              <a:rPr lang="en-IN" sz="2000" dirty="0"/>
              <a:t>The largest earthquake measured 9.2 on the Richter scale.</a:t>
            </a:r>
          </a:p>
          <a:p>
            <a:pPr lvl="2"/>
            <a:r>
              <a:rPr lang="en-IN" dirty="0" smtClean="0"/>
              <a:t>Men </a:t>
            </a:r>
            <a:r>
              <a:rPr lang="en-IN" dirty="0"/>
              <a:t>are at least 10 times more likely than women to commit murder.</a:t>
            </a:r>
          </a:p>
          <a:p>
            <a:pPr marL="0" indent="0">
              <a:buNone/>
            </a:pPr>
            <a:r>
              <a:rPr lang="en-IN" sz="2000" dirty="0" smtClean="0"/>
              <a:t>	• </a:t>
            </a:r>
            <a:r>
              <a:rPr lang="en-IN" sz="2000" dirty="0"/>
              <a:t>One in every 8 Americans is COVID positive.</a:t>
            </a:r>
          </a:p>
          <a:p>
            <a:pPr marL="0" indent="0">
              <a:buNone/>
            </a:pPr>
            <a:endParaRPr lang="en-IN" sz="2000" dirty="0" smtClean="0"/>
          </a:p>
          <a:p>
            <a:pPr marL="0" indent="0">
              <a:buNone/>
            </a:pPr>
            <a:r>
              <a:rPr lang="en-IN" sz="2000" dirty="0" smtClean="0"/>
              <a:t> The </a:t>
            </a:r>
            <a:r>
              <a:rPr lang="en-IN" sz="2000" dirty="0"/>
              <a:t>study of statistics involves math and relies upon calculations of numbers. But it also relies </a:t>
            </a:r>
            <a:r>
              <a:rPr lang="en-IN" sz="2000" dirty="0" smtClean="0"/>
              <a:t>         heavily </a:t>
            </a:r>
            <a:r>
              <a:rPr lang="en-IN" sz="2000" dirty="0"/>
              <a:t>on how the numbers are chosen and how the statistics are interpreted. For example, consider some scenarios and the interpretations based upon the presented statistics.</a:t>
            </a:r>
          </a:p>
          <a:p>
            <a:pPr marL="0" indent="0">
              <a:buNone/>
            </a:pPr>
            <a:r>
              <a:rPr lang="en-IN" sz="2000" dirty="0"/>
              <a:t>1. A new advertisement for Amul's ice cream introduced in late May of last year resulted in a 30% </a:t>
            </a:r>
            <a:r>
              <a:rPr lang="en-IN" sz="2000" dirty="0" smtClean="0"/>
              <a:t> increase </a:t>
            </a:r>
            <a:r>
              <a:rPr lang="en-IN" sz="2000" dirty="0"/>
              <a:t>in ice cream sales for the following three months. Thus, the advertisement was effective.</a:t>
            </a:r>
          </a:p>
          <a:p>
            <a:pPr marL="0" indent="0">
              <a:buNone/>
            </a:pPr>
            <a:r>
              <a:rPr lang="en-IN" sz="2000" dirty="0"/>
              <a:t>2. The more liquor shop in a city, the more crime there is. Thus, liquor shops lead to crime.</a:t>
            </a:r>
          </a:p>
        </p:txBody>
      </p:sp>
    </p:spTree>
    <p:extLst>
      <p:ext uri="{BB962C8B-B14F-4D97-AF65-F5344CB8AC3E}">
        <p14:creationId xmlns:p14="http://schemas.microsoft.com/office/powerpoint/2010/main" val="325264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2309"/>
            <a:ext cx="10515600" cy="5814654"/>
          </a:xfrm>
        </p:spPr>
        <p:txBody>
          <a:bodyPr>
            <a:normAutofit/>
          </a:bodyPr>
          <a:lstStyle/>
          <a:p>
            <a:pPr marL="0" indent="0">
              <a:buNone/>
            </a:pPr>
            <a:endParaRPr lang="en-IN" sz="2000" dirty="0"/>
          </a:p>
          <a:p>
            <a:endParaRPr lang="en-IN" sz="2000" dirty="0"/>
          </a:p>
          <a:p>
            <a:pPr marL="514350" indent="-514350">
              <a:buFont typeface="+mj-lt"/>
              <a:buAutoNum type="arabicPeriod"/>
            </a:pPr>
            <a:r>
              <a:rPr lang="en-IN" sz="2000" dirty="0" smtClean="0"/>
              <a:t>Flaw</a:t>
            </a:r>
            <a:r>
              <a:rPr lang="en-IN" sz="2000" dirty="0"/>
              <a:t>: A major flaw is that ice cream consumption generally increases in the months of June, July, and August regardless of advertisements. This effect is called a history effect and leads people to interpret outcomes as the result of one variable when another variable (in this case, one having to do with the passage of time) is actually responsible.</a:t>
            </a:r>
          </a:p>
          <a:p>
            <a:pPr marL="514350" indent="-514350">
              <a:buFont typeface="+mj-lt"/>
              <a:buAutoNum type="arabicPeriod"/>
            </a:pPr>
            <a:r>
              <a:rPr lang="en-IN" sz="2000" dirty="0" smtClean="0"/>
              <a:t>Flaw</a:t>
            </a:r>
            <a:r>
              <a:rPr lang="en-IN" sz="2000" dirty="0"/>
              <a:t>: A major flaw is that both increased liquor shops and increased crime rates can be explained by larger populations. In bigger cities, there are both more liquor shops and more crime. This problem refers to the third-variable problem. Namely, a third variable can cause both situations; however, people erroneously believe that there is a causal relationship between the two primary variables rather than recognize that a third variable can cause both.</a:t>
            </a:r>
          </a:p>
          <a:p>
            <a:pPr marL="0" indent="0">
              <a:buNone/>
            </a:pPr>
            <a:endParaRPr lang="en-IN" sz="2000" dirty="0" smtClean="0"/>
          </a:p>
          <a:p>
            <a:pPr marL="0" indent="0">
              <a:buNone/>
            </a:pPr>
            <a:r>
              <a:rPr lang="en-IN" sz="2000" dirty="0"/>
              <a:t>	</a:t>
            </a:r>
            <a:r>
              <a:rPr lang="en-IN" sz="2000" dirty="0" smtClean="0"/>
              <a:t>Hence</a:t>
            </a:r>
            <a:r>
              <a:rPr lang="en-IN" sz="2000" dirty="0"/>
              <a:t>, the correct Interpretation of the numbers are necessary!!!!</a:t>
            </a:r>
          </a:p>
        </p:txBody>
      </p:sp>
    </p:spTree>
    <p:extLst>
      <p:ext uri="{BB962C8B-B14F-4D97-AF65-F5344CB8AC3E}">
        <p14:creationId xmlns:p14="http://schemas.microsoft.com/office/powerpoint/2010/main" val="1707321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3562"/>
          </a:xfrm>
        </p:spPr>
        <p:txBody>
          <a:bodyPr/>
          <a:lstStyle/>
          <a:p>
            <a:r>
              <a:rPr lang="en-IN" dirty="0"/>
              <a:t>Types of Statistics</a:t>
            </a:r>
            <a:r>
              <a:rPr lang="en-IN" dirty="0" smtClean="0"/>
              <a:t>:</a:t>
            </a:r>
            <a:endParaRPr lang="en-IN" dirty="0"/>
          </a:p>
        </p:txBody>
      </p:sp>
      <p:sp>
        <p:nvSpPr>
          <p:cNvPr id="3" name="Content Placeholder 2"/>
          <p:cNvSpPr>
            <a:spLocks noGrp="1"/>
          </p:cNvSpPr>
          <p:nvPr>
            <p:ph idx="1"/>
          </p:nvPr>
        </p:nvSpPr>
        <p:spPr>
          <a:xfrm>
            <a:off x="838200" y="1276709"/>
            <a:ext cx="10515600" cy="4900254"/>
          </a:xfrm>
        </p:spPr>
        <p:txBody>
          <a:bodyPr>
            <a:normAutofit/>
          </a:bodyPr>
          <a:lstStyle/>
          <a:p>
            <a:endParaRPr lang="en-IN" dirty="0"/>
          </a:p>
          <a:p>
            <a:endParaRPr lang="en-IN" dirty="0"/>
          </a:p>
          <a:p>
            <a:pPr marL="514350" indent="-514350">
              <a:buFont typeface="+mj-lt"/>
              <a:buAutoNum type="arabicPeriod"/>
            </a:pPr>
            <a:r>
              <a:rPr lang="en-IN" sz="2000" b="1" dirty="0" smtClean="0"/>
              <a:t>Descriptive </a:t>
            </a:r>
            <a:r>
              <a:rPr lang="en-IN" sz="2000" b="1" dirty="0"/>
              <a:t>statistics </a:t>
            </a:r>
            <a:r>
              <a:rPr lang="en-IN" sz="2000" dirty="0"/>
              <a:t>deals with the processing of data without attempting to draw any inferences from it. The characteristics of the data are described in simple terms. Events that are dealt with include everyday happenings such as accidents, prices of goods, business, incomes, epidemics, sports data, population data</a:t>
            </a:r>
            <a:r>
              <a:rPr lang="en-IN" sz="2000" dirty="0" smtClean="0"/>
              <a:t>.</a:t>
            </a:r>
          </a:p>
          <a:p>
            <a:pPr marL="0" indent="0">
              <a:buNone/>
            </a:pPr>
            <a:endParaRPr lang="en-GB" sz="2000" dirty="0"/>
          </a:p>
          <a:p>
            <a:pPr marL="0" indent="0">
              <a:buNone/>
            </a:pPr>
            <a:endParaRPr lang="en-IN" sz="2000" dirty="0"/>
          </a:p>
          <a:p>
            <a:pPr marL="457200" indent="-457200">
              <a:buFont typeface="+mj-lt"/>
              <a:buAutoNum type="arabicPeriod"/>
            </a:pPr>
            <a:r>
              <a:rPr lang="en-IN" sz="2000" b="1" dirty="0" smtClean="0"/>
              <a:t>Inferential </a:t>
            </a:r>
            <a:r>
              <a:rPr lang="en-IN" sz="2000" b="1" dirty="0"/>
              <a:t>statistics </a:t>
            </a:r>
            <a:r>
              <a:rPr lang="en-IN" sz="2000" dirty="0"/>
              <a:t>is a scientific discipline that uses mathematical tools to make </a:t>
            </a:r>
            <a:r>
              <a:rPr lang="en-IN" sz="2000" dirty="0" smtClean="0"/>
              <a:t>forecasts and </a:t>
            </a:r>
            <a:r>
              <a:rPr lang="en-IN" sz="2000" dirty="0"/>
              <a:t>projections by analysing the given data. This is of use to people employed in such fields as engineering, economics, biology, the social sciences, business, agriculture </a:t>
            </a:r>
            <a:r>
              <a:rPr lang="en-IN" sz="2000" dirty="0" smtClean="0"/>
              <a:t>and communications</a:t>
            </a:r>
            <a:r>
              <a:rPr lang="en-IN" sz="2000" dirty="0"/>
              <a:t>.</a:t>
            </a:r>
          </a:p>
        </p:txBody>
      </p:sp>
    </p:spTree>
    <p:extLst>
      <p:ext uri="{BB962C8B-B14F-4D97-AF65-F5344CB8AC3E}">
        <p14:creationId xmlns:p14="http://schemas.microsoft.com/office/powerpoint/2010/main" val="4290782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3304" y="560717"/>
            <a:ext cx="10205760" cy="6125565"/>
          </a:xfrm>
        </p:spPr>
      </p:pic>
    </p:spTree>
    <p:extLst>
      <p:ext uri="{BB962C8B-B14F-4D97-AF65-F5344CB8AC3E}">
        <p14:creationId xmlns:p14="http://schemas.microsoft.com/office/powerpoint/2010/main" val="3910611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2643" y="579174"/>
            <a:ext cx="10298304" cy="5493821"/>
          </a:xfrm>
        </p:spPr>
      </p:pic>
    </p:spTree>
    <p:extLst>
      <p:ext uri="{BB962C8B-B14F-4D97-AF65-F5344CB8AC3E}">
        <p14:creationId xmlns:p14="http://schemas.microsoft.com/office/powerpoint/2010/main" val="1700169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3464" y="571454"/>
            <a:ext cx="9928399" cy="5190991"/>
          </a:xfrm>
        </p:spPr>
      </p:pic>
    </p:spTree>
    <p:extLst>
      <p:ext uri="{BB962C8B-B14F-4D97-AF65-F5344CB8AC3E}">
        <p14:creationId xmlns:p14="http://schemas.microsoft.com/office/powerpoint/2010/main" val="33028554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7264" y="889093"/>
            <a:ext cx="9802617" cy="5166650"/>
          </a:xfrm>
        </p:spPr>
      </p:pic>
    </p:spTree>
    <p:extLst>
      <p:ext uri="{BB962C8B-B14F-4D97-AF65-F5344CB8AC3E}">
        <p14:creationId xmlns:p14="http://schemas.microsoft.com/office/powerpoint/2010/main" val="22168454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8452" y="526211"/>
            <a:ext cx="9329316" cy="5573114"/>
          </a:xfrm>
        </p:spPr>
      </p:pic>
    </p:spTree>
    <p:extLst>
      <p:ext uri="{BB962C8B-B14F-4D97-AF65-F5344CB8AC3E}">
        <p14:creationId xmlns:p14="http://schemas.microsoft.com/office/powerpoint/2010/main" val="9158636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7147" y="720823"/>
            <a:ext cx="8951815" cy="5367487"/>
          </a:xfrm>
        </p:spPr>
      </p:pic>
    </p:spTree>
    <p:extLst>
      <p:ext uri="{BB962C8B-B14F-4D97-AF65-F5344CB8AC3E}">
        <p14:creationId xmlns:p14="http://schemas.microsoft.com/office/powerpoint/2010/main" val="27375702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Histogram</a:t>
            </a:r>
            <a:endParaRPr lang="en-US" dirty="0"/>
          </a:p>
        </p:txBody>
      </p:sp>
      <p:sp>
        <p:nvSpPr>
          <p:cNvPr id="3" name="Content Placeholder 2"/>
          <p:cNvSpPr>
            <a:spLocks noGrp="1"/>
          </p:cNvSpPr>
          <p:nvPr>
            <p:ph idx="1"/>
          </p:nvPr>
        </p:nvSpPr>
        <p:spPr/>
        <p:txBody>
          <a:bodyPr/>
          <a:lstStyle/>
          <a:p>
            <a:r>
              <a:rPr lang="en-US" dirty="0"/>
              <a:t>A histogram is a graphical representation of the distribution of numerical data. It is an estimate of the probability distribution of a continuous variable. It is a kind of bar graph</a:t>
            </a:r>
            <a:r>
              <a:rPr lang="en-US" dirty="0" smtClean="0"/>
              <a:t>.</a:t>
            </a:r>
          </a:p>
          <a:p>
            <a:r>
              <a:rPr lang="en-US" dirty="0"/>
              <a:t>Histograms are commonly used in statistics to show the underlying frequency distribution of a set of continuous data. They provide a visual representation of the data's shape, center, and spread, making it easier to interpret and analyze the data.</a:t>
            </a:r>
          </a:p>
        </p:txBody>
      </p:sp>
    </p:spTree>
    <p:extLst>
      <p:ext uri="{BB962C8B-B14F-4D97-AF65-F5344CB8AC3E}">
        <p14:creationId xmlns:p14="http://schemas.microsoft.com/office/powerpoint/2010/main" val="17995750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141" y="973784"/>
            <a:ext cx="9541595" cy="5006392"/>
          </a:xfrm>
        </p:spPr>
      </p:pic>
    </p:spTree>
    <p:extLst>
      <p:ext uri="{BB962C8B-B14F-4D97-AF65-F5344CB8AC3E}">
        <p14:creationId xmlns:p14="http://schemas.microsoft.com/office/powerpoint/2010/main" val="21543469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3867"/>
          </a:xfrm>
        </p:spPr>
        <p:txBody>
          <a:bodyPr/>
          <a:lstStyle/>
          <a:p>
            <a:r>
              <a:rPr lang="en-US" dirty="0" smtClean="0"/>
              <a:t>Descriptive Statistics</a:t>
            </a:r>
            <a:endParaRPr lang="en-US" dirty="0"/>
          </a:p>
        </p:txBody>
      </p:sp>
      <p:sp>
        <p:nvSpPr>
          <p:cNvPr id="3" name="Content Placeholder 2"/>
          <p:cNvSpPr>
            <a:spLocks noGrp="1"/>
          </p:cNvSpPr>
          <p:nvPr>
            <p:ph idx="1"/>
          </p:nvPr>
        </p:nvSpPr>
        <p:spPr>
          <a:xfrm>
            <a:off x="838200" y="1152144"/>
            <a:ext cx="10515600" cy="5349240"/>
          </a:xfrm>
        </p:spPr>
        <p:txBody>
          <a:bodyPr>
            <a:normAutofit/>
          </a:bodyPr>
          <a:lstStyle/>
          <a:p>
            <a:pPr marL="0" indent="0">
              <a:buNone/>
            </a:pPr>
            <a:r>
              <a:rPr lang="en-US" sz="2000" dirty="0"/>
              <a:t>Descriptive </a:t>
            </a:r>
            <a:r>
              <a:rPr lang="en-US" sz="2000" dirty="0" smtClean="0"/>
              <a:t>Statistics deals </a:t>
            </a:r>
            <a:r>
              <a:rPr lang="en-US" sz="2000" dirty="0"/>
              <a:t>with the processing of data without attempting to draw any inferences from it. </a:t>
            </a:r>
            <a:endParaRPr lang="en-US" sz="2000" dirty="0" smtClean="0"/>
          </a:p>
          <a:p>
            <a:pPr marL="0" indent="0">
              <a:buNone/>
            </a:pPr>
            <a:r>
              <a:rPr lang="en-US" sz="2000" dirty="0" smtClean="0"/>
              <a:t>The </a:t>
            </a:r>
            <a:r>
              <a:rPr lang="en-US" sz="2000" dirty="0"/>
              <a:t>characteristics of the data are described in simple terms. </a:t>
            </a:r>
            <a:endParaRPr lang="en-US" sz="2000" dirty="0" smtClean="0"/>
          </a:p>
          <a:p>
            <a:pPr marL="0" indent="0">
              <a:buNone/>
            </a:pPr>
            <a:r>
              <a:rPr lang="en-US" sz="2000" dirty="0" smtClean="0"/>
              <a:t>Events </a:t>
            </a:r>
            <a:r>
              <a:rPr lang="en-US" sz="2000" dirty="0"/>
              <a:t>that are dealt with include everyday happenings such as accidents, prices of goods, business, incomes, epidemics, sports data, population data</a:t>
            </a:r>
            <a:r>
              <a:rPr lang="en-US" sz="2000" dirty="0" smtClean="0"/>
              <a:t>.</a:t>
            </a:r>
          </a:p>
          <a:p>
            <a:pPr marL="0" indent="0">
              <a:buNone/>
            </a:pPr>
            <a:r>
              <a:rPr lang="en-US" sz="1800" dirty="0" smtClean="0"/>
              <a:t>When </a:t>
            </a:r>
            <a:r>
              <a:rPr lang="en-US" sz="1800" dirty="0"/>
              <a:t>we give description of data, there can be 3 kinds</a:t>
            </a:r>
            <a:r>
              <a:rPr lang="en-US" sz="1800" dirty="0" smtClean="0"/>
              <a:t>:</a:t>
            </a:r>
          </a:p>
          <a:p>
            <a:pPr marL="514350" indent="-514350">
              <a:buAutoNum type="arabicPeriod"/>
            </a:pPr>
            <a:r>
              <a:rPr lang="en-US" sz="1800" dirty="0" smtClean="0"/>
              <a:t>Measures </a:t>
            </a:r>
            <a:r>
              <a:rPr lang="en-US" sz="1800" dirty="0"/>
              <a:t>of Central Tendency - Mean, Median and </a:t>
            </a:r>
            <a:r>
              <a:rPr lang="en-US" sz="1800" dirty="0" smtClean="0"/>
              <a:t>Mode</a:t>
            </a:r>
          </a:p>
          <a:p>
            <a:pPr marL="514350" indent="-514350">
              <a:buAutoNum type="arabicPeriod"/>
            </a:pPr>
            <a:r>
              <a:rPr lang="en-US" sz="1800" dirty="0" smtClean="0"/>
              <a:t>Measures </a:t>
            </a:r>
            <a:r>
              <a:rPr lang="en-US" sz="1800" dirty="0"/>
              <a:t>of Dispersion - Standard Deviation, Variance, Range, IQR (Inter Quartile Range) </a:t>
            </a:r>
            <a:endParaRPr lang="en-US" sz="1800" dirty="0" smtClean="0"/>
          </a:p>
          <a:p>
            <a:pPr marL="514350" indent="-514350">
              <a:buAutoNum type="arabicPeriod"/>
            </a:pPr>
            <a:r>
              <a:rPr lang="en-US" sz="1800" dirty="0" smtClean="0"/>
              <a:t>Measure </a:t>
            </a:r>
            <a:r>
              <a:rPr lang="en-US" sz="1800" dirty="0"/>
              <a:t>of Symmetricity/Shape - Skewness and Kurtosis</a:t>
            </a:r>
          </a:p>
        </p:txBody>
      </p:sp>
    </p:spTree>
    <p:extLst>
      <p:ext uri="{BB962C8B-B14F-4D97-AF65-F5344CB8AC3E}">
        <p14:creationId xmlns:p14="http://schemas.microsoft.com/office/powerpoint/2010/main" val="15144400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5448"/>
            <a:ext cx="10515600" cy="6556248"/>
          </a:xfrm>
        </p:spPr>
        <p:txBody>
          <a:bodyPr>
            <a:noAutofit/>
          </a:bodyPr>
          <a:lstStyle/>
          <a:p>
            <a:pPr marL="0" indent="0" algn="ctr">
              <a:buNone/>
            </a:pPr>
            <a:r>
              <a:rPr lang="en-US" sz="1800" b="1" dirty="0">
                <a:solidFill>
                  <a:srgbClr val="FF0000"/>
                </a:solidFill>
                <a:latin typeface="Verdana" panose="020B0604030504040204" pitchFamily="34" charset="0"/>
                <a:ea typeface="Verdana" panose="020B0604030504040204" pitchFamily="34" charset="0"/>
              </a:rPr>
              <a:t>1. Measure of Central Tendency</a:t>
            </a:r>
            <a:endParaRPr lang="en-US" sz="1800" dirty="0" smtClean="0">
              <a:latin typeface="Verdana" panose="020B0604030504040204" pitchFamily="34" charset="0"/>
              <a:ea typeface="Verdana" panose="020B0604030504040204" pitchFamily="34" charset="0"/>
            </a:endParaRPr>
          </a:p>
          <a:p>
            <a:pPr marL="0" indent="0">
              <a:buNone/>
            </a:pPr>
            <a:r>
              <a:rPr lang="en-US" sz="1400" dirty="0" smtClean="0">
                <a:latin typeface="Verdana" panose="020B0604030504040204" pitchFamily="34" charset="0"/>
                <a:ea typeface="Verdana" panose="020B0604030504040204" pitchFamily="34" charset="0"/>
              </a:rPr>
              <a:t>A </a:t>
            </a:r>
            <a:r>
              <a:rPr lang="en-US" sz="1400" dirty="0">
                <a:latin typeface="Verdana" panose="020B0604030504040204" pitchFamily="34" charset="0"/>
                <a:ea typeface="Verdana" panose="020B0604030504040204" pitchFamily="34" charset="0"/>
              </a:rPr>
              <a:t>measure of central tendency is a summary statistic that represents the centre point or typical value of a dataset. These measures indicate where most values in a distribution fall and are also referred to as the central location of a distribution</a:t>
            </a:r>
            <a:r>
              <a:rPr lang="en-US" sz="1400" dirty="0" smtClean="0">
                <a:latin typeface="Verdana" panose="020B0604030504040204" pitchFamily="34" charset="0"/>
                <a:ea typeface="Verdana" panose="020B0604030504040204" pitchFamily="34" charset="0"/>
              </a:rPr>
              <a:t>.</a:t>
            </a:r>
          </a:p>
          <a:p>
            <a:pPr marL="0" indent="0">
              <a:buNone/>
            </a:pPr>
            <a:r>
              <a:rPr lang="en-US" sz="1400" b="1" dirty="0" smtClean="0">
                <a:solidFill>
                  <a:srgbClr val="00B050"/>
                </a:solidFill>
                <a:latin typeface="Verdana" panose="020B0604030504040204" pitchFamily="34" charset="0"/>
                <a:ea typeface="Verdana" panose="020B0604030504040204" pitchFamily="34" charset="0"/>
              </a:rPr>
              <a:t>1 Mean</a:t>
            </a:r>
          </a:p>
          <a:p>
            <a:pPr marL="0" indent="0">
              <a:buNone/>
            </a:pPr>
            <a:r>
              <a:rPr lang="en-US" sz="1400" dirty="0" smtClean="0">
                <a:latin typeface="Verdana" panose="020B0604030504040204" pitchFamily="34" charset="0"/>
                <a:ea typeface="Verdana" panose="020B0604030504040204" pitchFamily="34" charset="0"/>
              </a:rPr>
              <a:t>Average </a:t>
            </a:r>
            <a:r>
              <a:rPr lang="en-US" sz="1400" dirty="0">
                <a:latin typeface="Verdana" panose="020B0604030504040204" pitchFamily="34" charset="0"/>
                <a:ea typeface="Verdana" panose="020B0604030504040204" pitchFamily="34" charset="0"/>
              </a:rPr>
              <a:t>value of the set of Numbers. Mean is a a number around which a whole data is spread out. Denoted by </a:t>
            </a:r>
            <a:r>
              <a:rPr lang="en-US" sz="1600" b="1" dirty="0" smtClean="0">
                <a:solidFill>
                  <a:schemeClr val="tx1">
                    <a:lumMod val="85000"/>
                    <a:lumOff val="15000"/>
                  </a:schemeClr>
                </a:solidFill>
                <a:latin typeface="Verdana" panose="020B0604030504040204" pitchFamily="34" charset="0"/>
                <a:ea typeface="Verdana" panose="020B0604030504040204" pitchFamily="34" charset="0"/>
              </a:rPr>
              <a:t>µ</a:t>
            </a:r>
            <a:r>
              <a:rPr lang="en-US" sz="1400" dirty="0" smtClean="0">
                <a:latin typeface="Verdana" panose="020B0604030504040204" pitchFamily="34" charset="0"/>
                <a:ea typeface="Verdana" panose="020B0604030504040204" pitchFamily="34" charset="0"/>
              </a:rPr>
              <a:t> </a:t>
            </a:r>
            <a:r>
              <a:rPr lang="en-US" sz="1400" dirty="0">
                <a:latin typeface="Verdana" panose="020B0604030504040204" pitchFamily="34" charset="0"/>
                <a:ea typeface="Verdana" panose="020B0604030504040204" pitchFamily="34" charset="0"/>
              </a:rPr>
              <a:t>for population mean and for sample </a:t>
            </a:r>
            <a:r>
              <a:rPr lang="en-US" sz="1400" dirty="0" smtClean="0">
                <a:latin typeface="Verdana" panose="020B0604030504040204" pitchFamily="34" charset="0"/>
                <a:ea typeface="Verdana" panose="020B0604030504040204" pitchFamily="34" charset="0"/>
              </a:rPr>
              <a:t>mean.</a:t>
            </a:r>
            <a:r>
              <a:rPr lang="en-US" sz="1400" b="1" dirty="0" smtClean="0">
                <a:latin typeface="Verdana" panose="020B0604030504040204" pitchFamily="34" charset="0"/>
                <a:ea typeface="Verdana" panose="020B0604030504040204" pitchFamily="34" charset="0"/>
              </a:rPr>
              <a:t>X</a:t>
            </a:r>
          </a:p>
          <a:p>
            <a:pPr marL="0" indent="0">
              <a:buNone/>
            </a:pPr>
            <a:r>
              <a:rPr lang="en-US" sz="1400" dirty="0" smtClean="0">
                <a:latin typeface="Verdana" panose="020B0604030504040204" pitchFamily="34" charset="0"/>
                <a:ea typeface="Verdana" panose="020B0604030504040204" pitchFamily="34" charset="0"/>
              </a:rPr>
              <a:t>Example</a:t>
            </a:r>
            <a:r>
              <a:rPr lang="en-US" sz="1400" dirty="0">
                <a:latin typeface="Verdana" panose="020B0604030504040204" pitchFamily="34" charset="0"/>
                <a:ea typeface="Verdana" panose="020B0604030504040204" pitchFamily="34" charset="0"/>
              </a:rPr>
              <a:t>: Find the mean of 5,5,2,6,3,8,9?A: </a:t>
            </a:r>
            <a:endParaRPr lang="en-US" sz="1400" dirty="0" smtClean="0">
              <a:latin typeface="Verdana" panose="020B0604030504040204" pitchFamily="34" charset="0"/>
              <a:ea typeface="Verdana" panose="020B0604030504040204" pitchFamily="34" charset="0"/>
            </a:endParaRPr>
          </a:p>
          <a:p>
            <a:pPr marL="0" indent="0">
              <a:buNone/>
            </a:pPr>
            <a:r>
              <a:rPr lang="en-US" sz="1400" dirty="0" smtClean="0">
                <a:latin typeface="Verdana" panose="020B0604030504040204" pitchFamily="34" charset="0"/>
                <a:ea typeface="Verdana" panose="020B0604030504040204" pitchFamily="34" charset="0"/>
              </a:rPr>
              <a:t>Mean </a:t>
            </a:r>
            <a:r>
              <a:rPr lang="en-US" sz="1400" dirty="0">
                <a:latin typeface="Verdana" panose="020B0604030504040204" pitchFamily="34" charset="0"/>
                <a:ea typeface="Verdana" panose="020B0604030504040204" pitchFamily="34" charset="0"/>
              </a:rPr>
              <a:t>is (5+5+2+6+3+8+9) / 7 = 38/7 = </a:t>
            </a:r>
            <a:r>
              <a:rPr lang="en-US" sz="1400" dirty="0" smtClean="0">
                <a:latin typeface="Verdana" panose="020B0604030504040204" pitchFamily="34" charset="0"/>
                <a:ea typeface="Verdana" panose="020B0604030504040204" pitchFamily="34" charset="0"/>
              </a:rPr>
              <a:t>5.43</a:t>
            </a:r>
          </a:p>
          <a:p>
            <a:pPr marL="0" indent="0">
              <a:buNone/>
            </a:pPr>
            <a:r>
              <a:rPr lang="en-US" sz="1400" b="1" dirty="0">
                <a:solidFill>
                  <a:srgbClr val="00B050"/>
                </a:solidFill>
                <a:latin typeface="Verdana" panose="020B0604030504040204" pitchFamily="34" charset="0"/>
                <a:ea typeface="Verdana" panose="020B0604030504040204" pitchFamily="34" charset="0"/>
              </a:rPr>
              <a:t>2. </a:t>
            </a:r>
            <a:r>
              <a:rPr lang="en-US" sz="1400" b="1" dirty="0" smtClean="0">
                <a:solidFill>
                  <a:srgbClr val="00B050"/>
                </a:solidFill>
                <a:latin typeface="Verdana" panose="020B0604030504040204" pitchFamily="34" charset="0"/>
                <a:ea typeface="Verdana" panose="020B0604030504040204" pitchFamily="34" charset="0"/>
              </a:rPr>
              <a:t>Median</a:t>
            </a:r>
          </a:p>
          <a:p>
            <a:pPr marL="0" indent="0">
              <a:buNone/>
            </a:pPr>
            <a:r>
              <a:rPr lang="en-US" sz="1400" dirty="0" smtClean="0">
                <a:latin typeface="Verdana" panose="020B0604030504040204" pitchFamily="34" charset="0"/>
                <a:ea typeface="Verdana" panose="020B0604030504040204" pitchFamily="34" charset="0"/>
              </a:rPr>
              <a:t>Median </a:t>
            </a:r>
            <a:r>
              <a:rPr lang="en-US" sz="1400" dirty="0">
                <a:latin typeface="Verdana" panose="020B0604030504040204" pitchFamily="34" charset="0"/>
                <a:ea typeface="Verdana" panose="020B0604030504040204" pitchFamily="34" charset="0"/>
              </a:rPr>
              <a:t>is the value which divides the data in 2 equal parts i.e. number of terms on right side of it is same as number of terms on left side of it when data is arranged in either ascending or descending order</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a:t>
            </a:r>
            <a:r>
              <a:rPr lang="en-US" sz="1400" dirty="0">
                <a:latin typeface="Verdana" panose="020B0604030504040204" pitchFamily="34" charset="0"/>
                <a:ea typeface="Verdana" panose="020B0604030504040204" pitchFamily="34" charset="0"/>
              </a:rPr>
              <a:t>Note: If you sort data in descending order, it won't affect median but IQR will be negative</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Example</a:t>
            </a:r>
            <a:r>
              <a:rPr lang="en-US" sz="1400" dirty="0">
                <a:latin typeface="Verdana" panose="020B0604030504040204" pitchFamily="34" charset="0"/>
                <a:ea typeface="Verdana" panose="020B0604030504040204" pitchFamily="34" charset="0"/>
              </a:rPr>
              <a:t>: Find the Median of 5,5,2,6,3,8,9</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A</a:t>
            </a:r>
            <a:r>
              <a:rPr lang="en-US" sz="1400" dirty="0">
                <a:latin typeface="Verdana" panose="020B0604030504040204" pitchFamily="34" charset="0"/>
                <a:ea typeface="Verdana" panose="020B0604030504040204" pitchFamily="34" charset="0"/>
              </a:rPr>
              <a:t>: Putting it in ascending order = 2,3,5,5,6,8,9. Hence, Median = Mid Number = 5</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a:t>
            </a:r>
            <a:r>
              <a:rPr lang="en-US" sz="1400" dirty="0">
                <a:latin typeface="Verdana" panose="020B0604030504040204" pitchFamily="34" charset="0"/>
                <a:ea typeface="Verdana" panose="020B0604030504040204" pitchFamily="34" charset="0"/>
              </a:rPr>
              <a:t>Note: Median of a even set of numbers can be found by taking the average of the 2 middle numbers.E.g. Median of 2,3,4,7 = average of (3 and 4) = 3.5</a:t>
            </a:r>
            <a:r>
              <a:rPr lang="en-US" sz="1400" dirty="0" smtClean="0">
                <a:latin typeface="Verdana" panose="020B0604030504040204" pitchFamily="34" charset="0"/>
                <a:ea typeface="Verdana" panose="020B0604030504040204" pitchFamily="34" charset="0"/>
              </a:rPr>
              <a:t>)</a:t>
            </a:r>
          </a:p>
          <a:p>
            <a:pPr marL="0" indent="0">
              <a:buNone/>
            </a:pPr>
            <a:r>
              <a:rPr lang="en-US" sz="1400" b="1" dirty="0">
                <a:solidFill>
                  <a:srgbClr val="00B050"/>
                </a:solidFill>
                <a:latin typeface="Verdana" panose="020B0604030504040204" pitchFamily="34" charset="0"/>
                <a:ea typeface="Verdana" panose="020B0604030504040204" pitchFamily="34" charset="0"/>
              </a:rPr>
              <a:t>3. </a:t>
            </a:r>
            <a:r>
              <a:rPr lang="en-US" sz="1400" b="1" dirty="0" smtClean="0">
                <a:solidFill>
                  <a:srgbClr val="00B050"/>
                </a:solidFill>
                <a:latin typeface="Verdana" panose="020B0604030504040204" pitchFamily="34" charset="0"/>
                <a:ea typeface="Verdana" panose="020B0604030504040204" pitchFamily="34" charset="0"/>
              </a:rPr>
              <a:t>Mode</a:t>
            </a:r>
          </a:p>
          <a:p>
            <a:pPr marL="0" indent="0">
              <a:buNone/>
            </a:pPr>
            <a:r>
              <a:rPr lang="en-US" sz="1400" dirty="0" smtClean="0">
                <a:latin typeface="Verdana" panose="020B0604030504040204" pitchFamily="34" charset="0"/>
                <a:ea typeface="Verdana" panose="020B0604030504040204" pitchFamily="34" charset="0"/>
              </a:rPr>
              <a:t>Mode </a:t>
            </a:r>
            <a:r>
              <a:rPr lang="en-US" sz="1400" dirty="0">
                <a:latin typeface="Verdana" panose="020B0604030504040204" pitchFamily="34" charset="0"/>
                <a:ea typeface="Verdana" panose="020B0604030504040204" pitchFamily="34" charset="0"/>
              </a:rPr>
              <a:t>is the term appearing maximum time in data set i.e. term that has highest frequency</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Example</a:t>
            </a:r>
            <a:r>
              <a:rPr lang="en-US" sz="1400" dirty="0">
                <a:latin typeface="Verdana" panose="020B0604030504040204" pitchFamily="34" charset="0"/>
                <a:ea typeface="Verdana" panose="020B0604030504040204" pitchFamily="34" charset="0"/>
              </a:rPr>
              <a:t>: Find the Median of 5,5,2,6,3,8,9?A: Mode = Maximum number of repetition in dataset = 5. Hence, Mode = 5</a:t>
            </a:r>
            <a:r>
              <a:rPr lang="en-US" sz="1400" dirty="0" smtClean="0">
                <a:latin typeface="Verdana" panose="020B0604030504040204" pitchFamily="34" charset="0"/>
                <a:ea typeface="Verdana" panose="020B0604030504040204" pitchFamily="34" charset="0"/>
              </a:rPr>
              <a:t>.</a:t>
            </a:r>
          </a:p>
          <a:p>
            <a:pPr marL="0" indent="0">
              <a:buNone/>
            </a:pPr>
            <a:r>
              <a:rPr lang="en-US" sz="1400" dirty="0" smtClean="0">
                <a:latin typeface="Verdana" panose="020B0604030504040204" pitchFamily="34" charset="0"/>
                <a:ea typeface="Verdana" panose="020B0604030504040204" pitchFamily="34" charset="0"/>
              </a:rPr>
              <a:t>(</a:t>
            </a:r>
            <a:r>
              <a:rPr lang="en-US" sz="1400" dirty="0">
                <a:latin typeface="Verdana" panose="020B0604030504040204" pitchFamily="34" charset="0"/>
                <a:ea typeface="Verdana" panose="020B0604030504040204" pitchFamily="34" charset="0"/>
              </a:rPr>
              <a:t>Note: If there is no repetition of data then mode is not present. E.g.: What is the mode of 1,2,3,5,6? A: None i.e. mode is not present.)</a:t>
            </a:r>
          </a:p>
        </p:txBody>
      </p:sp>
    </p:spTree>
    <p:extLst>
      <p:ext uri="{BB962C8B-B14F-4D97-AF65-F5344CB8AC3E}">
        <p14:creationId xmlns:p14="http://schemas.microsoft.com/office/powerpoint/2010/main" val="33949752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1651" y="434416"/>
            <a:ext cx="10885231" cy="5865799"/>
          </a:xfrm>
        </p:spPr>
      </p:pic>
    </p:spTree>
    <p:extLst>
      <p:ext uri="{BB962C8B-B14F-4D97-AF65-F5344CB8AC3E}">
        <p14:creationId xmlns:p14="http://schemas.microsoft.com/office/powerpoint/2010/main" val="4470480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Give the 5 number summary of below data</a:t>
            </a:r>
          </a:p>
          <a:p>
            <a:pPr marL="457200" lvl="1" indent="0">
              <a:buNone/>
            </a:pPr>
            <a:r>
              <a:rPr lang="en-US" dirty="0"/>
              <a:t>	</a:t>
            </a:r>
            <a:endParaRPr lang="en-US" dirty="0" smtClean="0"/>
          </a:p>
          <a:p>
            <a:pPr marL="457200" lvl="1" indent="0">
              <a:buNone/>
            </a:pPr>
            <a:r>
              <a:rPr lang="en-US" dirty="0"/>
              <a:t>	</a:t>
            </a:r>
            <a:r>
              <a:rPr lang="en-US" dirty="0" smtClean="0"/>
              <a:t>19, 26, 25, 37, 32, 28, 22, 23, 29, 34, 39, 31</a:t>
            </a:r>
          </a:p>
        </p:txBody>
      </p:sp>
    </p:spTree>
    <p:extLst>
      <p:ext uri="{BB962C8B-B14F-4D97-AF65-F5344CB8AC3E}">
        <p14:creationId xmlns:p14="http://schemas.microsoft.com/office/powerpoint/2010/main" val="36509631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880"/>
            <a:ext cx="10515600" cy="6501384"/>
          </a:xfrm>
        </p:spPr>
        <p:txBody>
          <a:bodyPr>
            <a:normAutofit/>
          </a:bodyPr>
          <a:lstStyle/>
          <a:p>
            <a:pPr marL="0" indent="0" algn="ctr">
              <a:buNone/>
            </a:pPr>
            <a:r>
              <a:rPr lang="en-US" b="1" dirty="0" smtClean="0">
                <a:solidFill>
                  <a:srgbClr val="00B050"/>
                </a:solidFill>
              </a:rPr>
              <a:t>Box plot</a:t>
            </a:r>
          </a:p>
          <a:p>
            <a:r>
              <a:rPr lang="en-US" sz="1800" dirty="0" smtClean="0"/>
              <a:t>box </a:t>
            </a:r>
            <a:r>
              <a:rPr lang="en-US" sz="1800" dirty="0"/>
              <a:t>plot, also known as a box-and-whisker plot, is a graphical representation of the distribution of a dataset. It displays the minimum, first quartile, median, third quartile, and maximum of a dataset. </a:t>
            </a:r>
            <a:endParaRPr lang="en-US" sz="1800" dirty="0" smtClean="0"/>
          </a:p>
          <a:p>
            <a:r>
              <a:rPr lang="en-US" sz="1800" dirty="0" smtClean="0"/>
              <a:t>These </a:t>
            </a:r>
            <a:r>
              <a:rPr lang="en-US" sz="1800" dirty="0"/>
              <a:t>values are also known as the five-number summary of the data</a:t>
            </a:r>
            <a:r>
              <a:rPr lang="en-US" sz="1800" dirty="0" smtClean="0"/>
              <a:t>.</a:t>
            </a:r>
            <a:endParaRPr lang="en-US" sz="1800" dirty="0"/>
          </a:p>
          <a:p>
            <a:pPr marL="342900" indent="-342900">
              <a:buFont typeface="+mj-lt"/>
              <a:buAutoNum type="arabicPeriod"/>
            </a:pPr>
            <a:r>
              <a:rPr lang="en-US" sz="1800" b="1" dirty="0"/>
              <a:t>Minimum:</a:t>
            </a:r>
            <a:r>
              <a:rPr lang="en-US" sz="1800" dirty="0"/>
              <a:t> The smallest number in the dataset not considered an outlier.</a:t>
            </a:r>
          </a:p>
          <a:p>
            <a:pPr marL="342900" indent="-342900">
              <a:buFont typeface="+mj-lt"/>
              <a:buAutoNum type="arabicPeriod"/>
            </a:pPr>
            <a:r>
              <a:rPr lang="en-US" sz="1800" b="1" dirty="0"/>
              <a:t>First Quartile (Q1):</a:t>
            </a:r>
            <a:r>
              <a:rPr lang="en-US" sz="1800" dirty="0"/>
              <a:t> The median of the lower half of the dataset.</a:t>
            </a:r>
          </a:p>
          <a:p>
            <a:pPr marL="342900" indent="-342900">
              <a:buFont typeface="+mj-lt"/>
              <a:buAutoNum type="arabicPeriod"/>
            </a:pPr>
            <a:r>
              <a:rPr lang="en-US" sz="1800" b="1" dirty="0"/>
              <a:t>Median (Q2 or Second Quartile):</a:t>
            </a:r>
            <a:r>
              <a:rPr lang="en-US" sz="1800" dirty="0"/>
              <a:t> The middle value of the dataset, separating the lower and upper halves.</a:t>
            </a:r>
          </a:p>
          <a:p>
            <a:pPr marL="342900" indent="-342900">
              <a:buFont typeface="+mj-lt"/>
              <a:buAutoNum type="arabicPeriod"/>
            </a:pPr>
            <a:r>
              <a:rPr lang="en-US" sz="1800" b="1" dirty="0"/>
              <a:t>Third Quartile (Q3):</a:t>
            </a:r>
            <a:r>
              <a:rPr lang="en-US" sz="1800" dirty="0"/>
              <a:t> The median of the upper half of the dataset.</a:t>
            </a:r>
          </a:p>
          <a:p>
            <a:pPr marL="342900" indent="-342900">
              <a:buFont typeface="+mj-lt"/>
              <a:buAutoNum type="arabicPeriod"/>
            </a:pPr>
            <a:r>
              <a:rPr lang="en-US" sz="1800" b="1" dirty="0"/>
              <a:t>Maximum:</a:t>
            </a:r>
            <a:r>
              <a:rPr lang="en-US" sz="1800" dirty="0"/>
              <a:t> The largest number in the dataset not considered an outlier.</a:t>
            </a:r>
          </a:p>
          <a:p>
            <a:pPr marL="0" indent="0">
              <a:buNone/>
            </a:pPr>
            <a:r>
              <a:rPr lang="en-US" sz="1800" b="1" dirty="0"/>
              <a:t>In a box plot:</a:t>
            </a:r>
          </a:p>
          <a:p>
            <a:r>
              <a:rPr lang="en-US" sz="1800" dirty="0"/>
              <a:t>A box is created from the first quartile to the third quartile, representing the interquartile range (IQR) which contains the middle 50% of the data.</a:t>
            </a:r>
          </a:p>
          <a:p>
            <a:r>
              <a:rPr lang="en-US" sz="1800" dirty="0"/>
              <a:t>A line (whisker) extends from the box to the minimum and maximum values, indicating the range of the data.</a:t>
            </a:r>
          </a:p>
          <a:p>
            <a:r>
              <a:rPr lang="en-US" sz="1800" dirty="0"/>
              <a:t>Outliers, if any, are usually plotted as individual points outside the whiskers.</a:t>
            </a:r>
          </a:p>
          <a:p>
            <a:pPr marL="0" indent="0">
              <a:buNone/>
            </a:pPr>
            <a:r>
              <a:rPr lang="en-US" sz="1800" dirty="0"/>
              <a:t>Box plots are useful for comparing distributions between different groups or datasets. They provide a clear summary of the central tendency and spread of the data, making it easy to identify outliers and differences between groups.</a:t>
            </a:r>
          </a:p>
        </p:txBody>
      </p:sp>
    </p:spTree>
    <p:extLst>
      <p:ext uri="{BB962C8B-B14F-4D97-AF65-F5344CB8AC3E}">
        <p14:creationId xmlns:p14="http://schemas.microsoft.com/office/powerpoint/2010/main" val="10886976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9068" y="964324"/>
            <a:ext cx="8965780" cy="4659236"/>
          </a:xfrm>
        </p:spPr>
      </p:pic>
    </p:spTree>
    <p:extLst>
      <p:ext uri="{BB962C8B-B14F-4D97-AF65-F5344CB8AC3E}">
        <p14:creationId xmlns:p14="http://schemas.microsoft.com/office/powerpoint/2010/main" val="29466575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016"/>
            <a:ext cx="10515600" cy="6464808"/>
          </a:xfrm>
        </p:spPr>
        <p:txBody>
          <a:bodyPr/>
          <a:lstStyle/>
          <a:p>
            <a:pPr marL="0" indent="0" algn="ctr">
              <a:buNone/>
            </a:pPr>
            <a:r>
              <a:rPr lang="en-US" b="1" dirty="0">
                <a:solidFill>
                  <a:srgbClr val="00B050"/>
                </a:solidFill>
              </a:rPr>
              <a:t>2. Measure of Spread / </a:t>
            </a:r>
            <a:r>
              <a:rPr lang="en-US" b="1" dirty="0" smtClean="0">
                <a:solidFill>
                  <a:srgbClr val="00B050"/>
                </a:solidFill>
              </a:rPr>
              <a:t>Dispersion</a:t>
            </a:r>
            <a:endParaRPr lang="en-US" b="1" dirty="0">
              <a:solidFill>
                <a:srgbClr val="00B050"/>
              </a:solidFill>
            </a:endParaRPr>
          </a:p>
          <a:p>
            <a:pPr marL="0" indent="0">
              <a:buNone/>
            </a:pPr>
            <a:r>
              <a:rPr lang="en-US" sz="2000" b="1" dirty="0">
                <a:solidFill>
                  <a:srgbClr val="FF0000"/>
                </a:solidFill>
              </a:rPr>
              <a:t>1. Standard deviation</a:t>
            </a:r>
          </a:p>
          <a:p>
            <a:pPr marL="0" indent="0">
              <a:buNone/>
            </a:pPr>
            <a:r>
              <a:rPr lang="en-US" sz="2000" dirty="0"/>
              <a:t>Standard deviation is the measurement of average distance between each quantity and mean. That is, how data is spread out from mean. A low standard deviation indicates that the data points tend to be close to the mean of the data set, while a high standard deviation indicates that the data points are spread out over a wider range of values</a:t>
            </a:r>
            <a:r>
              <a:rPr lang="en-US" sz="2000" dirty="0" smtClean="0"/>
              <a:t>.</a:t>
            </a:r>
          </a:p>
          <a:p>
            <a:pPr marL="0" indent="0">
              <a:buNone/>
            </a:pPr>
            <a:endParaRPr lang="en-US" sz="1800" dirty="0"/>
          </a:p>
          <a:p>
            <a:pPr marL="0" indent="0">
              <a:buNone/>
            </a:pP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783" y="2669361"/>
            <a:ext cx="6786145" cy="2743887"/>
          </a:xfrm>
          <a:prstGeom prst="rect">
            <a:avLst/>
          </a:prstGeom>
        </p:spPr>
      </p:pic>
    </p:spTree>
    <p:extLst>
      <p:ext uri="{BB962C8B-B14F-4D97-AF65-F5344CB8AC3E}">
        <p14:creationId xmlns:p14="http://schemas.microsoft.com/office/powerpoint/2010/main" val="30479229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5448"/>
            <a:ext cx="10515600" cy="6483096"/>
          </a:xfrm>
        </p:spPr>
        <p:txBody>
          <a:bodyPr/>
          <a:lstStyle/>
          <a:p>
            <a:pPr marL="0" indent="0">
              <a:buNone/>
            </a:pPr>
            <a:r>
              <a:rPr lang="en-US" sz="2400" b="1" dirty="0" smtClean="0">
                <a:solidFill>
                  <a:srgbClr val="FF0000"/>
                </a:solidFill>
              </a:rPr>
              <a:t>2. Variance</a:t>
            </a:r>
          </a:p>
          <a:p>
            <a:pPr marL="0" indent="0">
              <a:buNone/>
            </a:pPr>
            <a:r>
              <a:rPr lang="en-US" sz="2000" dirty="0" smtClean="0"/>
              <a:t>Variance is a square of average distance between each quantity and mean.</a:t>
            </a:r>
          </a:p>
          <a:p>
            <a:pPr marL="0" indent="0">
              <a:buNone/>
            </a:pPr>
            <a:r>
              <a:rPr lang="en-US" sz="2000" dirty="0" smtClean="0"/>
              <a:t>It is square of standard deviation</a:t>
            </a:r>
          </a:p>
          <a:p>
            <a:pPr marL="0" indent="0">
              <a:buNone/>
            </a:pPr>
            <a:endParaRPr lang="en-US" sz="2400" dirty="0" smtClean="0"/>
          </a:p>
          <a:p>
            <a:pPr marL="0" indent="0">
              <a:buNone/>
            </a:pPr>
            <a:endParaRPr lang="en-US" sz="2400" dirty="0"/>
          </a:p>
          <a:p>
            <a:pPr marL="0" indent="0">
              <a:buNone/>
            </a:pPr>
            <a:endParaRPr lang="en-US" sz="2400" dirty="0" smtClean="0"/>
          </a:p>
          <a:p>
            <a:pPr marL="0" indent="0">
              <a:buNone/>
            </a:pPr>
            <a:endParaRPr lang="en-US" sz="2400" dirty="0"/>
          </a:p>
          <a:p>
            <a:pPr marL="0" indent="0">
              <a:buNone/>
            </a:pPr>
            <a:endParaRPr lang="en-US" sz="2400" dirty="0" smtClean="0"/>
          </a:p>
          <a:p>
            <a:pPr marL="0" indent="0">
              <a:buNone/>
            </a:pPr>
            <a:r>
              <a:rPr lang="en-US" sz="2400" b="1" dirty="0" smtClean="0">
                <a:solidFill>
                  <a:srgbClr val="FF0000"/>
                </a:solidFill>
              </a:rPr>
              <a:t>3.Range</a:t>
            </a:r>
          </a:p>
          <a:p>
            <a:pPr marL="0" indent="0">
              <a:buNone/>
            </a:pPr>
            <a:r>
              <a:rPr lang="en-US" sz="2000" dirty="0" smtClean="0"/>
              <a:t>Range is one of the simplest techniques of descriptive statistics. It is the difference between lowest and highest value.</a:t>
            </a:r>
          </a:p>
          <a:p>
            <a:pPr marL="0" indent="0">
              <a:buNone/>
            </a:pPr>
            <a:r>
              <a:rPr lang="en-US" sz="2400" dirty="0">
                <a:solidFill>
                  <a:srgbClr val="FF0000"/>
                </a:solidFill>
              </a:rPr>
              <a:t>	</a:t>
            </a:r>
            <a:r>
              <a:rPr lang="en-US" sz="2400" dirty="0" smtClean="0">
                <a:solidFill>
                  <a:srgbClr val="FF0000"/>
                </a:solidFill>
              </a:rPr>
              <a:t>	</a:t>
            </a:r>
            <a:r>
              <a:rPr lang="en-US" sz="2400" dirty="0" smtClean="0">
                <a:solidFill>
                  <a:schemeClr val="accent1">
                    <a:lumMod val="50000"/>
                  </a:schemeClr>
                </a:solidFill>
              </a:rPr>
              <a:t>Range =Maximum – Minimum</a:t>
            </a:r>
          </a:p>
          <a:p>
            <a:pPr marL="0" indent="0">
              <a:buNone/>
            </a:pPr>
            <a:r>
              <a:rPr lang="en-US" sz="2400" b="1" dirty="0" smtClean="0">
                <a:solidFill>
                  <a:srgbClr val="FF0000"/>
                </a:solidFill>
              </a:rPr>
              <a:t>4. IQR (interquartile Range)</a:t>
            </a:r>
          </a:p>
          <a:p>
            <a:pPr marL="0" indent="0">
              <a:buNone/>
            </a:pPr>
            <a:r>
              <a:rPr lang="en-US" sz="2000" dirty="0" smtClean="0"/>
              <a:t>Quartiles are value that divide data into quarters.</a:t>
            </a:r>
            <a:endParaRPr lang="en-US" sz="2400" dirty="0" smtClean="0"/>
          </a:p>
          <a:p>
            <a:pPr marL="0" indent="0">
              <a:buNone/>
            </a:pPr>
            <a:r>
              <a:rPr lang="en-US" sz="2400" b="1" dirty="0">
                <a:solidFill>
                  <a:srgbClr val="FF0000"/>
                </a:solidFill>
              </a:rPr>
              <a:t>	</a:t>
            </a:r>
            <a:r>
              <a:rPr lang="en-US" sz="2400" b="1" dirty="0" smtClean="0">
                <a:solidFill>
                  <a:srgbClr val="FF0000"/>
                </a:solidFill>
              </a:rPr>
              <a:t>		</a:t>
            </a:r>
            <a:r>
              <a:rPr lang="en-US" sz="2400" dirty="0" smtClean="0">
                <a:solidFill>
                  <a:srgbClr val="0070C0"/>
                </a:solidFill>
              </a:rPr>
              <a:t>IQR=Q3-Q1</a:t>
            </a:r>
          </a:p>
          <a:p>
            <a:pPr marL="0" indent="0">
              <a:buNone/>
            </a:pPr>
            <a:endParaRPr lang="en-US" sz="2400" b="1" dirty="0" smtClean="0">
              <a:solidFill>
                <a:srgbClr val="FF0000"/>
              </a:solidFill>
            </a:endParaRPr>
          </a:p>
          <a:p>
            <a:pPr marL="0" indent="0">
              <a:buNone/>
            </a:pPr>
            <a:endParaRPr lang="en-US" sz="2400" dirty="0">
              <a:solidFill>
                <a:schemeClr val="accent1">
                  <a:lumMod val="50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5877" y="1642844"/>
            <a:ext cx="8354251" cy="1502692"/>
          </a:xfrm>
          <a:prstGeom prst="rect">
            <a:avLst/>
          </a:prstGeom>
        </p:spPr>
      </p:pic>
    </p:spTree>
    <p:extLst>
      <p:ext uri="{BB962C8B-B14F-4D97-AF65-F5344CB8AC3E}">
        <p14:creationId xmlns:p14="http://schemas.microsoft.com/office/powerpoint/2010/main" val="18143027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4592"/>
            <a:ext cx="10515600" cy="6565392"/>
          </a:xfrm>
        </p:spPr>
        <p:txBody>
          <a:bodyPr/>
          <a:lstStyle/>
          <a:p>
            <a:pPr marL="0" indent="0" algn="ctr">
              <a:buNone/>
            </a:pPr>
            <a:r>
              <a:rPr lang="en-US" sz="2400" b="1" dirty="0" smtClean="0">
                <a:solidFill>
                  <a:srgbClr val="FF0000"/>
                </a:solidFill>
              </a:rPr>
              <a:t>Measure </a:t>
            </a:r>
            <a:r>
              <a:rPr lang="en-US" sz="2400" b="1" dirty="0">
                <a:solidFill>
                  <a:srgbClr val="FF0000"/>
                </a:solidFill>
              </a:rPr>
              <a:t>of Symmetricity/Shape - Skewness and Kurtosis</a:t>
            </a:r>
          </a:p>
          <a:p>
            <a:pPr marL="514350" indent="-514350">
              <a:buAutoNum type="arabicPeriod"/>
            </a:pPr>
            <a:r>
              <a:rPr lang="en-US" dirty="0" smtClean="0"/>
              <a:t>Skewness</a:t>
            </a:r>
          </a:p>
          <a:p>
            <a:pPr marL="0" indent="0">
              <a:buNone/>
            </a:pPr>
            <a:endParaRPr lang="en-US" sz="2000" dirty="0"/>
          </a:p>
          <a:p>
            <a:pPr marL="0" indent="0">
              <a:buNone/>
            </a:pPr>
            <a:r>
              <a:rPr lang="en-US" sz="2000" dirty="0" smtClean="0"/>
              <a:t>Skewness is usually described as a measure of dataset’s symmentry – or lack of symmentry.</a:t>
            </a:r>
          </a:p>
          <a:p>
            <a:pPr marL="0" indent="0">
              <a:buNone/>
            </a:pPr>
            <a:r>
              <a:rPr lang="en-US" sz="2000" dirty="0" smtClean="0"/>
              <a:t>A perfectly symmentrical data set will have a skewness of 0.</a:t>
            </a:r>
          </a:p>
          <a:p>
            <a:pPr marL="0" indent="0">
              <a:buNone/>
            </a:pPr>
            <a:endParaRPr lang="en-US" sz="20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102" y="2349174"/>
            <a:ext cx="6121715" cy="2781443"/>
          </a:xfrm>
          <a:prstGeom prst="rect">
            <a:avLst/>
          </a:prstGeom>
        </p:spPr>
      </p:pic>
    </p:spTree>
    <p:extLst>
      <p:ext uri="{BB962C8B-B14F-4D97-AF65-F5344CB8AC3E}">
        <p14:creationId xmlns:p14="http://schemas.microsoft.com/office/powerpoint/2010/main" val="42193488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curtosis</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38070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905" y="219456"/>
            <a:ext cx="11747560" cy="6364224"/>
          </a:xfrm>
        </p:spPr>
        <p:txBody>
          <a:bodyPr/>
          <a:lstStyle/>
          <a:p>
            <a:pPr marL="0" indent="0" algn="ctr">
              <a:buNone/>
            </a:pPr>
            <a:r>
              <a:rPr lang="en-US" b="1" dirty="0" smtClean="0">
                <a:solidFill>
                  <a:srgbClr val="FF0000"/>
                </a:solidFill>
              </a:rPr>
              <a:t>Outliers</a:t>
            </a:r>
          </a:p>
          <a:p>
            <a:pPr marL="0" indent="0">
              <a:buNone/>
            </a:pPr>
            <a:r>
              <a:rPr lang="en-US" sz="1600" b="1" dirty="0">
                <a:solidFill>
                  <a:srgbClr val="FF0000"/>
                </a:solidFill>
              </a:rPr>
              <a:t>﻿</a:t>
            </a:r>
          </a:p>
          <a:p>
            <a:pPr marL="0" indent="0">
              <a:buNone/>
            </a:pPr>
            <a:r>
              <a:rPr lang="en-US" sz="1600" b="1" dirty="0" smtClean="0">
                <a:solidFill>
                  <a:srgbClr val="0070C0"/>
                </a:solidFill>
              </a:rPr>
              <a:t>What </a:t>
            </a:r>
            <a:r>
              <a:rPr lang="en-US" sz="1600" b="1" dirty="0">
                <a:solidFill>
                  <a:srgbClr val="0070C0"/>
                </a:solidFill>
              </a:rPr>
              <a:t>is outlier?</a:t>
            </a:r>
          </a:p>
          <a:p>
            <a:pPr marL="0" indent="0">
              <a:buNone/>
            </a:pPr>
            <a:r>
              <a:rPr lang="en-US" sz="1600" dirty="0"/>
              <a:t>An outlier is an observation that lies an abnormal distance from other values in a random sample from a population. In a sense, this definition leaves it up to the analyst to decide what will be considered abnormal.</a:t>
            </a:r>
          </a:p>
          <a:p>
            <a:pPr marL="0" indent="0">
              <a:buNone/>
            </a:pPr>
            <a:r>
              <a:rPr lang="en-US" sz="1600" b="1" dirty="0">
                <a:solidFill>
                  <a:srgbClr val="0070C0"/>
                </a:solidFill>
              </a:rPr>
              <a:t>Common Causes of Outliers</a:t>
            </a:r>
          </a:p>
          <a:p>
            <a:pPr marL="0" indent="0">
              <a:buNone/>
            </a:pPr>
            <a:r>
              <a:rPr lang="en-US" sz="1600" dirty="0"/>
              <a:t>1. Data entry errors (human errors)</a:t>
            </a:r>
          </a:p>
          <a:p>
            <a:pPr marL="0" indent="0">
              <a:buNone/>
            </a:pPr>
            <a:r>
              <a:rPr lang="en-US" sz="1600" dirty="0"/>
              <a:t>2. Measurement errors (instrument errors)</a:t>
            </a:r>
          </a:p>
          <a:p>
            <a:pPr marL="0" indent="0">
              <a:buNone/>
            </a:pPr>
            <a:r>
              <a:rPr lang="en-US" sz="1600" dirty="0"/>
              <a:t>3. Experimental errors (data extraction or experiment planning/executing errors)</a:t>
            </a:r>
          </a:p>
          <a:p>
            <a:pPr marL="0" indent="0">
              <a:buNone/>
            </a:pPr>
            <a:r>
              <a:rPr lang="en-US" sz="1600" dirty="0"/>
              <a:t>4. Intentional (dummy outliers made to test detection methods) </a:t>
            </a:r>
            <a:endParaRPr lang="en-US" sz="1600" dirty="0" smtClean="0"/>
          </a:p>
          <a:p>
            <a:pPr marL="0" indent="0">
              <a:buNone/>
            </a:pPr>
            <a:r>
              <a:rPr lang="en-US" sz="1600" dirty="0" smtClean="0"/>
              <a:t>5</a:t>
            </a:r>
            <a:r>
              <a:rPr lang="en-US" sz="1600" dirty="0"/>
              <a:t>. Data processing errors (data manipulation or data </a:t>
            </a:r>
            <a:r>
              <a:rPr lang="en-US" sz="1600" dirty="0" smtClean="0"/>
              <a:t>set unintended </a:t>
            </a:r>
            <a:r>
              <a:rPr lang="en-US" sz="1600" dirty="0"/>
              <a:t>mutations)</a:t>
            </a:r>
          </a:p>
          <a:p>
            <a:pPr marL="0" indent="0">
              <a:buNone/>
            </a:pPr>
            <a:r>
              <a:rPr lang="en-US" sz="1600" dirty="0"/>
              <a:t>6. Sampling errors (extracting or mixing data from wrong or various sources)</a:t>
            </a:r>
          </a:p>
          <a:p>
            <a:pPr marL="0" indent="0">
              <a:buNone/>
            </a:pPr>
            <a:r>
              <a:rPr lang="en-US" sz="1600" dirty="0"/>
              <a:t>7. Natural (not an error, novelties in data</a:t>
            </a:r>
            <a:r>
              <a:rPr lang="en-US" sz="1600" dirty="0" smtClean="0"/>
              <a:t>)</a:t>
            </a:r>
          </a:p>
          <a:p>
            <a:pPr marL="0" indent="0">
              <a:buNone/>
            </a:pPr>
            <a:endParaRPr lang="en-US" sz="1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220" y="2587593"/>
            <a:ext cx="4612245" cy="2853087"/>
          </a:xfrm>
          <a:prstGeom prst="rect">
            <a:avLst/>
          </a:prstGeom>
        </p:spPr>
      </p:pic>
    </p:spTree>
    <p:extLst>
      <p:ext uri="{BB962C8B-B14F-4D97-AF65-F5344CB8AC3E}">
        <p14:creationId xmlns:p14="http://schemas.microsoft.com/office/powerpoint/2010/main" val="669275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160"/>
            <a:ext cx="10515600" cy="6039803"/>
          </a:xfrm>
        </p:spPr>
        <p:txBody>
          <a:bodyPr/>
          <a:lstStyle/>
          <a:p>
            <a:pPr marL="0" indent="0" algn="ctr">
              <a:buNone/>
            </a:pPr>
            <a:r>
              <a:rPr lang="en-US" b="1" dirty="0" smtClean="0">
                <a:solidFill>
                  <a:srgbClr val="FF0000"/>
                </a:solidFill>
              </a:rPr>
              <a:t>Common Methods of determining an outlier</a:t>
            </a:r>
          </a:p>
          <a:p>
            <a:pPr marL="514350" indent="-514350">
              <a:buFont typeface="+mj-lt"/>
              <a:buAutoNum type="arabicPeriod"/>
            </a:pPr>
            <a:r>
              <a:rPr lang="en-US" sz="2000" dirty="0" smtClean="0"/>
              <a:t>Sort the data and see for the extreme value</a:t>
            </a:r>
          </a:p>
          <a:p>
            <a:pPr marL="514350" indent="-514350">
              <a:buFont typeface="+mj-lt"/>
              <a:buAutoNum type="arabicPeriod"/>
            </a:pPr>
            <a:r>
              <a:rPr lang="en-US" sz="2000" dirty="0" smtClean="0"/>
              <a:t>Plotting –Boxplot, Scatterplot</a:t>
            </a:r>
          </a:p>
          <a:p>
            <a:pPr marL="514350" indent="-514350">
              <a:buFont typeface="+mj-lt"/>
              <a:buAutoNum type="arabicPeriod"/>
            </a:pPr>
            <a:r>
              <a:rPr lang="en-US" sz="2000" dirty="0" smtClean="0"/>
              <a:t>IQR method</a:t>
            </a:r>
          </a:p>
          <a:p>
            <a:pPr marL="514350" indent="-514350">
              <a:buFont typeface="+mj-lt"/>
              <a:buAutoNum type="arabicPeriod"/>
            </a:pPr>
            <a:r>
              <a:rPr lang="en-US" sz="2000" dirty="0" smtClean="0"/>
              <a:t>Z-Score Method</a:t>
            </a:r>
          </a:p>
          <a:p>
            <a:pPr marL="0" indent="0">
              <a:buNone/>
            </a:pPr>
            <a:endParaRPr lang="en-US" sz="2000" dirty="0"/>
          </a:p>
          <a:p>
            <a:pPr marL="0" indent="0">
              <a:buNone/>
            </a:pPr>
            <a:endParaRPr lang="en-US" sz="2000" dirty="0" smtClean="0"/>
          </a:p>
          <a:p>
            <a:pPr marL="0" indent="0">
              <a:buNone/>
            </a:pPr>
            <a:endParaRPr lang="en-US" sz="2000" dirty="0"/>
          </a:p>
          <a:p>
            <a:pPr marL="0" indent="0">
              <a:buNone/>
            </a:pPr>
            <a:endParaRPr lang="en-US" sz="2000" dirty="0" smtClean="0"/>
          </a:p>
          <a:p>
            <a:pPr marL="0" indent="0">
              <a:buNone/>
            </a:pPr>
            <a:endParaRPr lang="en-US" sz="2000" dirty="0"/>
          </a:p>
          <a:p>
            <a:pPr marL="0" indent="0">
              <a:buNone/>
            </a:pPr>
            <a:endParaRPr lang="en-US" sz="2000" dirty="0" smtClean="0"/>
          </a:p>
          <a:p>
            <a:pPr marL="0" indent="0">
              <a:buNone/>
            </a:pPr>
            <a:r>
              <a:rPr lang="en-US" sz="2000" dirty="0" smtClean="0"/>
              <a:t>Why do we need to treat outliers?</a:t>
            </a:r>
          </a:p>
          <a:p>
            <a:pPr marL="0" indent="0">
              <a:buNone/>
            </a:pPr>
            <a:r>
              <a:rPr lang="en-US" sz="2000" dirty="0" smtClean="0"/>
              <a:t>Outliers can impact the results of the analysis and statistically modeling in a drastic way.</a:t>
            </a:r>
          </a:p>
          <a:p>
            <a:pPr marL="0" indent="0">
              <a:buNone/>
            </a:pPr>
            <a:endParaRPr lang="en-US" sz="2000" dirty="0" smtClean="0"/>
          </a:p>
          <a:p>
            <a:pPr marL="514350" indent="-514350">
              <a:buFont typeface="+mj-lt"/>
              <a:buAutoNum type="arabicPeriod"/>
            </a:pP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8020" y="2038159"/>
            <a:ext cx="3792284" cy="2534949"/>
          </a:xfrm>
          <a:prstGeom prst="rect">
            <a:avLst/>
          </a:prstGeom>
        </p:spPr>
      </p:pic>
    </p:spTree>
    <p:extLst>
      <p:ext uri="{BB962C8B-B14F-4D97-AF65-F5344CB8AC3E}">
        <p14:creationId xmlns:p14="http://schemas.microsoft.com/office/powerpoint/2010/main" val="4012515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711" y="786366"/>
            <a:ext cx="9867308" cy="5102370"/>
          </a:xfrm>
        </p:spPr>
      </p:pic>
    </p:spTree>
    <p:extLst>
      <p:ext uri="{BB962C8B-B14F-4D97-AF65-F5344CB8AC3E}">
        <p14:creationId xmlns:p14="http://schemas.microsoft.com/office/powerpoint/2010/main" val="3520261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Exercise</a:t>
            </a:r>
            <a:endParaRPr lang="en-US" dirty="0"/>
          </a:p>
        </p:txBody>
      </p:sp>
      <p:sp>
        <p:nvSpPr>
          <p:cNvPr id="3" name="Content Placeholder 2"/>
          <p:cNvSpPr>
            <a:spLocks noGrp="1"/>
          </p:cNvSpPr>
          <p:nvPr>
            <p:ph idx="1"/>
          </p:nvPr>
        </p:nvSpPr>
        <p:spPr/>
        <p:txBody>
          <a:bodyPr/>
          <a:lstStyle/>
          <a:p>
            <a:pPr marL="0" indent="0">
              <a:buNone/>
            </a:pPr>
            <a:r>
              <a:rPr lang="en-US" dirty="0" smtClean="0"/>
              <a:t>	</a:t>
            </a:r>
          </a:p>
          <a:p>
            <a:pPr marL="0" indent="0">
              <a:buNone/>
            </a:pPr>
            <a:r>
              <a:rPr lang="en-US" dirty="0"/>
              <a:t>	</a:t>
            </a:r>
            <a:r>
              <a:rPr lang="en-US" dirty="0" smtClean="0"/>
              <a:t>Identify the outliers from the below dataset, using IQR Method</a:t>
            </a:r>
          </a:p>
          <a:p>
            <a:pPr marL="0" indent="0">
              <a:buNone/>
            </a:pPr>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7774" y="3291705"/>
            <a:ext cx="8965193" cy="740800"/>
          </a:xfrm>
          <a:prstGeom prst="rect">
            <a:avLst/>
          </a:prstGeom>
        </p:spPr>
      </p:pic>
    </p:spTree>
    <p:extLst>
      <p:ext uri="{BB962C8B-B14F-4D97-AF65-F5344CB8AC3E}">
        <p14:creationId xmlns:p14="http://schemas.microsoft.com/office/powerpoint/2010/main" val="1973107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0019" y="1035380"/>
            <a:ext cx="8461753" cy="4423588"/>
          </a:xfrm>
        </p:spPr>
      </p:pic>
    </p:spTree>
    <p:extLst>
      <p:ext uri="{BB962C8B-B14F-4D97-AF65-F5344CB8AC3E}">
        <p14:creationId xmlns:p14="http://schemas.microsoft.com/office/powerpoint/2010/main" val="2959321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4592"/>
            <a:ext cx="10515600" cy="6012371"/>
          </a:xfrm>
        </p:spPr>
        <p:txBody>
          <a:bodyPr/>
          <a:lstStyle/>
          <a:p>
            <a:pPr marL="0" indent="0" algn="ctr">
              <a:buNone/>
            </a:pPr>
            <a:r>
              <a:rPr lang="en-US" b="1" dirty="0">
                <a:solidFill>
                  <a:srgbClr val="FF0000"/>
                </a:solidFill>
              </a:rPr>
              <a:t>Z-Score </a:t>
            </a:r>
            <a:r>
              <a:rPr lang="en-US" b="1" dirty="0" smtClean="0">
                <a:solidFill>
                  <a:srgbClr val="FF0000"/>
                </a:solidFill>
              </a:rPr>
              <a:t>Method</a:t>
            </a:r>
          </a:p>
          <a:p>
            <a:pPr marL="0" indent="0">
              <a:buNone/>
            </a:pPr>
            <a:r>
              <a:rPr lang="en-US" sz="2000" b="1" dirty="0"/>
              <a:t>What is Z-Score?</a:t>
            </a:r>
          </a:p>
          <a:p>
            <a:pPr marL="0" indent="0">
              <a:buNone/>
            </a:pPr>
            <a:r>
              <a:rPr lang="en-US" sz="1800" dirty="0"/>
              <a:t>Z-scores can quantify the unusualness of an observation. </a:t>
            </a:r>
            <a:endParaRPr lang="en-US" sz="1800" dirty="0" smtClean="0"/>
          </a:p>
          <a:p>
            <a:pPr marL="0" indent="0">
              <a:buNone/>
            </a:pPr>
            <a:r>
              <a:rPr lang="en-US" sz="1800" dirty="0" smtClean="0"/>
              <a:t>Z-scores </a:t>
            </a:r>
            <a:r>
              <a:rPr lang="en-US" sz="1800" dirty="0"/>
              <a:t>are the number of standard deviations above and below the mean that each value falls (assuming normal distribution).</a:t>
            </a:r>
          </a:p>
          <a:p>
            <a:pPr marL="0" indent="0">
              <a:buNone/>
            </a:pPr>
            <a:r>
              <a:rPr lang="en-US" sz="1800" dirty="0"/>
              <a:t>For example, a Z-score of 2 indicates that an observation is two standard deviations above the average while a Z- score of -2 signifies it is two </a:t>
            </a:r>
            <a:r>
              <a:rPr lang="en-US" sz="1800" dirty="0" smtClean="0"/>
              <a:t>standard </a:t>
            </a:r>
            <a:r>
              <a:rPr lang="en-US" sz="1800" dirty="0"/>
              <a:t>deviations below the mean</a:t>
            </a:r>
            <a:r>
              <a:rPr lang="en-US" sz="1800" dirty="0" smtClean="0"/>
              <a:t>.</a:t>
            </a:r>
          </a:p>
          <a:p>
            <a:pPr marL="0" indent="0">
              <a:buNone/>
            </a:pPr>
            <a:endParaRPr lang="en-US" sz="1800" dirty="0"/>
          </a:p>
          <a:p>
            <a:pPr marL="0" indent="0">
              <a:buNone/>
            </a:pP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423" y="3170777"/>
            <a:ext cx="3913058" cy="184013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616" y="3072168"/>
            <a:ext cx="4646024" cy="3104795"/>
          </a:xfrm>
          <a:prstGeom prst="rect">
            <a:avLst/>
          </a:prstGeom>
        </p:spPr>
      </p:pic>
    </p:spTree>
    <p:extLst>
      <p:ext uri="{BB962C8B-B14F-4D97-AF65-F5344CB8AC3E}">
        <p14:creationId xmlns:p14="http://schemas.microsoft.com/office/powerpoint/2010/main" val="4061100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7512"/>
            <a:ext cx="10515600" cy="5509451"/>
          </a:xfrm>
        </p:spPr>
        <p:txBody>
          <a:bodyPr/>
          <a:lstStyle/>
          <a:p>
            <a:r>
              <a:rPr lang="en-US" dirty="0" smtClean="0"/>
              <a:t>Exercise</a:t>
            </a:r>
          </a:p>
          <a:p>
            <a:r>
              <a:rPr lang="en-US" dirty="0" smtClean="0"/>
              <a:t>Consider the below dataset. Find out the outlier using z-score method</a:t>
            </a:r>
          </a:p>
          <a:p>
            <a:pPr lvl="1"/>
            <a:r>
              <a:rPr lang="en-US" dirty="0" smtClean="0"/>
              <a:t>1, 2, 2, 2, 3, 1, 1, 15, 2, 2, 2, 3, 1, 1,2</a:t>
            </a:r>
            <a:endParaRPr lang="en-US" dirty="0"/>
          </a:p>
        </p:txBody>
      </p:sp>
    </p:spTree>
    <p:extLst>
      <p:ext uri="{BB962C8B-B14F-4D97-AF65-F5344CB8AC3E}">
        <p14:creationId xmlns:p14="http://schemas.microsoft.com/office/powerpoint/2010/main" val="343306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9441" y="648857"/>
            <a:ext cx="9833874" cy="5276455"/>
          </a:xfrm>
        </p:spPr>
      </p:pic>
    </p:spTree>
    <p:extLst>
      <p:ext uri="{BB962C8B-B14F-4D97-AF65-F5344CB8AC3E}">
        <p14:creationId xmlns:p14="http://schemas.microsoft.com/office/powerpoint/2010/main" val="3338490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4592"/>
            <a:ext cx="10515600" cy="6510528"/>
          </a:xfrm>
        </p:spPr>
        <p:txBody>
          <a:bodyPr>
            <a:normAutofit/>
          </a:bodyPr>
          <a:lstStyle/>
          <a:p>
            <a:pPr algn="ctr"/>
            <a:r>
              <a:rPr lang="en-US" sz="3200" b="1" dirty="0" smtClean="0">
                <a:solidFill>
                  <a:srgbClr val="FF0000"/>
                </a:solidFill>
              </a:rPr>
              <a:t>Covariance</a:t>
            </a:r>
          </a:p>
          <a:p>
            <a:pPr marL="0" indent="0">
              <a:buNone/>
            </a:pPr>
            <a:r>
              <a:rPr lang="en-US" sz="1800" dirty="0"/>
              <a:t>It is a metric which is used to measure the direction of relationship between two random variables and evaluates how two variables change together. </a:t>
            </a:r>
            <a:endParaRPr lang="en-US" sz="1800" dirty="0" smtClean="0"/>
          </a:p>
          <a:p>
            <a:pPr marL="0" indent="0">
              <a:buNone/>
            </a:pPr>
            <a:r>
              <a:rPr lang="en-US" sz="1800" dirty="0" smtClean="0"/>
              <a:t>Difference </a:t>
            </a:r>
            <a:r>
              <a:rPr lang="en-US" sz="1800" dirty="0"/>
              <a:t>between variance and covariance lies in the fact that variance measures how one variable varies, however, covariance measures how two variables vary with respect to each other. In other words, variance tells the covariance of variable with itself</a:t>
            </a:r>
            <a:r>
              <a:rPr lang="en-US" sz="1800" dirty="0" smtClean="0"/>
              <a:t>.</a:t>
            </a:r>
          </a:p>
          <a:p>
            <a:pPr marL="0" indent="0">
              <a:buNone/>
            </a:pPr>
            <a:r>
              <a:rPr lang="en-US" sz="1800" dirty="0"/>
              <a:t>Covariance can take up any value from (-) infinity to (+) infinity and gives the direction of relationship between two variables. One important point to note here is that it only measures how two variables change together</a:t>
            </a:r>
            <a:r>
              <a:rPr lang="en-US" sz="1800" dirty="0" smtClean="0"/>
              <a:t>.</a:t>
            </a:r>
          </a:p>
          <a:p>
            <a:pPr marL="0" indent="0">
              <a:buNone/>
            </a:pPr>
            <a:endParaRPr lang="en-US" sz="1800" dirty="0">
              <a:solidFill>
                <a:srgbClr val="FF0000"/>
              </a:solidFill>
            </a:endParaRPr>
          </a:p>
          <a:p>
            <a:pPr marL="0" indent="0">
              <a:buNone/>
            </a:pPr>
            <a:endParaRPr lang="en-US" sz="1800" dirty="0">
              <a:solidFill>
                <a:srgbClr val="FF000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6987" y="2896456"/>
            <a:ext cx="8323085" cy="3631007"/>
          </a:xfrm>
          <a:prstGeom prst="rect">
            <a:avLst/>
          </a:prstGeom>
        </p:spPr>
      </p:pic>
    </p:spTree>
    <p:extLst>
      <p:ext uri="{BB962C8B-B14F-4D97-AF65-F5344CB8AC3E}">
        <p14:creationId xmlns:p14="http://schemas.microsoft.com/office/powerpoint/2010/main" val="2936020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8872"/>
            <a:ext cx="10515600" cy="6574536"/>
          </a:xfrm>
        </p:spPr>
        <p:txBody>
          <a:bodyPr/>
          <a:lstStyle/>
          <a:p>
            <a:pPr marL="0" indent="0">
              <a:buNone/>
            </a:pPr>
            <a:r>
              <a:rPr lang="en-US" sz="2000" b="1" dirty="0">
                <a:solidFill>
                  <a:srgbClr val="FF0000"/>
                </a:solidFill>
              </a:rPr>
              <a:t>What is Correlation? </a:t>
            </a:r>
            <a:endParaRPr lang="en-US" sz="2000" b="1" dirty="0" smtClean="0">
              <a:solidFill>
                <a:srgbClr val="FF0000"/>
              </a:solidFill>
            </a:endParaRPr>
          </a:p>
          <a:p>
            <a:pPr marL="0" indent="0">
              <a:buNone/>
            </a:pPr>
            <a:r>
              <a:rPr lang="en-US" sz="1800" dirty="0" smtClean="0"/>
              <a:t>Correlation </a:t>
            </a:r>
            <a:r>
              <a:rPr lang="en-US" sz="1800" dirty="0"/>
              <a:t>is a statistical technique to depict the relationship between 2 variables - strength and direction. We measure the correlation with the help of Correlation Coefficient. </a:t>
            </a:r>
            <a:endParaRPr lang="en-US" sz="1800" dirty="0" smtClean="0"/>
          </a:p>
          <a:p>
            <a:pPr marL="0" indent="0">
              <a:buNone/>
            </a:pPr>
            <a:r>
              <a:rPr lang="en-US" sz="1800" dirty="0" smtClean="0"/>
              <a:t>For </a:t>
            </a:r>
            <a:r>
              <a:rPr lang="en-US" sz="1800" b="1" dirty="0"/>
              <a:t>example</a:t>
            </a:r>
            <a:r>
              <a:rPr lang="en-US" sz="1800" dirty="0"/>
              <a:t>, height and weight are related; taller people tend to be heavier than shorter people. </a:t>
            </a:r>
            <a:endParaRPr lang="en-US" sz="1800" dirty="0" smtClean="0"/>
          </a:p>
          <a:p>
            <a:pPr marL="0" indent="0">
              <a:buNone/>
            </a:pPr>
            <a:r>
              <a:rPr lang="en-US" sz="2000" b="1" dirty="0" smtClean="0">
                <a:solidFill>
                  <a:srgbClr val="FF0000"/>
                </a:solidFill>
              </a:rPr>
              <a:t>What </a:t>
            </a:r>
            <a:r>
              <a:rPr lang="en-US" sz="2000" b="1" dirty="0">
                <a:solidFill>
                  <a:srgbClr val="FF0000"/>
                </a:solidFill>
              </a:rPr>
              <a:t>is Correlation Coefficient? </a:t>
            </a:r>
            <a:endParaRPr lang="en-US" sz="2000" b="1" dirty="0" smtClean="0">
              <a:solidFill>
                <a:srgbClr val="FF0000"/>
              </a:solidFill>
            </a:endParaRPr>
          </a:p>
          <a:p>
            <a:pPr marL="0" indent="0">
              <a:buNone/>
            </a:pPr>
            <a:r>
              <a:rPr lang="en-US" sz="1800" dirty="0" smtClean="0"/>
              <a:t>The </a:t>
            </a:r>
            <a:r>
              <a:rPr lang="en-US" sz="1800" dirty="0"/>
              <a:t>Pearson's correlation coefficient (r) is a measure that determines the degree to which the movement of two variables is associated. The value of Correlation Coefficient lies between -1 and 1. </a:t>
            </a:r>
            <a:endParaRPr lang="en-US" sz="1800" dirty="0" smtClean="0"/>
          </a:p>
          <a:p>
            <a:pPr marL="0" indent="0">
              <a:buNone/>
            </a:pPr>
            <a:r>
              <a:rPr lang="en-US" sz="1800" b="1" dirty="0" smtClean="0">
                <a:solidFill>
                  <a:schemeClr val="accent1">
                    <a:lumMod val="50000"/>
                  </a:schemeClr>
                </a:solidFill>
              </a:rPr>
              <a:t>Formula</a:t>
            </a:r>
            <a:r>
              <a:rPr lang="en-US" sz="1800" b="1" dirty="0">
                <a:solidFill>
                  <a:schemeClr val="accent1">
                    <a:lumMod val="50000"/>
                  </a:schemeClr>
                </a:solidFill>
              </a:rPr>
              <a:t>: (Pearson's Correlation Coefficient)- Standard </a:t>
            </a:r>
            <a:r>
              <a:rPr lang="en-US" sz="1800" b="1" dirty="0" smtClean="0">
                <a:solidFill>
                  <a:schemeClr val="accent1">
                    <a:lumMod val="50000"/>
                  </a:schemeClr>
                </a:solidFill>
              </a:rPr>
              <a:t>Formula</a:t>
            </a:r>
          </a:p>
          <a:p>
            <a:pPr marL="0" indent="0">
              <a:buNone/>
            </a:pPr>
            <a:r>
              <a:rPr lang="en-US" sz="1800" dirty="0" smtClean="0">
                <a:solidFill>
                  <a:schemeClr val="accent1">
                    <a:lumMod val="50000"/>
                  </a:schemeClr>
                </a:solidFill>
              </a:rPr>
              <a:t>In </a:t>
            </a:r>
            <a:r>
              <a:rPr lang="en-US" sz="1800" dirty="0">
                <a:solidFill>
                  <a:schemeClr val="accent1">
                    <a:lumMod val="50000"/>
                  </a:schemeClr>
                </a:solidFill>
              </a:rPr>
              <a:t>Python: </a:t>
            </a:r>
            <a:r>
              <a:rPr lang="en-US" sz="1800" dirty="0" smtClean="0">
                <a:solidFill>
                  <a:schemeClr val="accent1">
                    <a:lumMod val="50000"/>
                  </a:schemeClr>
                </a:solidFill>
              </a:rPr>
              <a:t>DataFrame.corr(method</a:t>
            </a:r>
            <a:r>
              <a:rPr lang="en-US" sz="1800" dirty="0">
                <a:solidFill>
                  <a:schemeClr val="accent1">
                    <a:lumMod val="50000"/>
                  </a:schemeClr>
                </a:solidFill>
              </a:rPr>
              <a:t>='pearson</a:t>
            </a:r>
            <a:r>
              <a:rPr lang="en-US" sz="1800" dirty="0" smtClean="0">
                <a:solidFill>
                  <a:schemeClr val="accent1">
                    <a:lumMod val="50000"/>
                  </a:schemeClr>
                </a:solidFill>
              </a:rPr>
              <a:t>')</a:t>
            </a:r>
          </a:p>
          <a:p>
            <a:pPr marL="0" indent="0">
              <a:buNone/>
            </a:pPr>
            <a:endParaRPr lang="en-US" sz="1800" dirty="0">
              <a:solidFill>
                <a:schemeClr val="accent1">
                  <a:lumMod val="50000"/>
                </a:schemeClr>
              </a:solidFill>
            </a:endParaRPr>
          </a:p>
          <a:p>
            <a:pPr marL="0" indent="0">
              <a:buNone/>
            </a:pPr>
            <a:endParaRPr lang="en-US" sz="1800" dirty="0" smtClean="0">
              <a:solidFill>
                <a:schemeClr val="accent1">
                  <a:lumMod val="50000"/>
                </a:schemeClr>
              </a:solidFill>
            </a:endParaRPr>
          </a:p>
          <a:p>
            <a:pPr marL="0" indent="0">
              <a:buNone/>
            </a:pPr>
            <a:endParaRPr lang="en-US" sz="1800" dirty="0">
              <a:solidFill>
                <a:schemeClr val="accent1">
                  <a:lumMod val="50000"/>
                </a:schemeClr>
              </a:solidFill>
            </a:endParaRPr>
          </a:p>
          <a:p>
            <a:pPr marL="0" indent="0">
              <a:buNone/>
            </a:pPr>
            <a:r>
              <a:rPr lang="en-US" sz="1800" dirty="0"/>
              <a:t>(n = sample size, and Sx, Sy are the standard deviation of samples x and y. X-bar and y-bar are the respective means of x and y samples whereas Xi and Yi are sample points of X and Y respectively.)</a:t>
            </a:r>
            <a:endParaRPr lang="en-US" sz="1800" dirty="0">
              <a:solidFill>
                <a:schemeClr val="accent1">
                  <a:lumMod val="50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2002" y="3042651"/>
            <a:ext cx="4126670" cy="1040336"/>
          </a:xfrm>
          <a:prstGeom prst="rect">
            <a:avLst/>
          </a:prstGeom>
        </p:spPr>
      </p:pic>
    </p:spTree>
    <p:extLst>
      <p:ext uri="{BB962C8B-B14F-4D97-AF65-F5344CB8AC3E}">
        <p14:creationId xmlns:p14="http://schemas.microsoft.com/office/powerpoint/2010/main" val="3939921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5760"/>
            <a:ext cx="10515600" cy="5811203"/>
          </a:xfrm>
        </p:spPr>
        <p:txBody>
          <a:bodyPr/>
          <a:lstStyle/>
          <a:p>
            <a:pPr marL="0" indent="0" algn="ctr">
              <a:buNone/>
            </a:pPr>
            <a:r>
              <a:rPr lang="en-US" sz="2400" b="1" dirty="0" smtClean="0">
                <a:solidFill>
                  <a:srgbClr val="FF0000"/>
                </a:solidFill>
              </a:rPr>
              <a:t>Positive and Negative Correlation</a:t>
            </a:r>
          </a:p>
          <a:p>
            <a:pPr marL="0" indent="0">
              <a:buNone/>
            </a:pPr>
            <a:r>
              <a:rPr lang="en-US" dirty="0"/>
              <a:t/>
            </a:r>
            <a:br>
              <a:rPr lang="en-US" dirty="0"/>
            </a:br>
            <a:r>
              <a:rPr lang="en-US" sz="2000" dirty="0"/>
              <a:t>1. </a:t>
            </a:r>
            <a:r>
              <a:rPr lang="en-US" sz="2000" dirty="0" smtClean="0"/>
              <a:t>	Correlation </a:t>
            </a:r>
            <a:r>
              <a:rPr lang="en-US" sz="2000" dirty="0"/>
              <a:t>Coefficient greater than zero indicates a positive </a:t>
            </a:r>
            <a:r>
              <a:rPr lang="en-US" sz="2000" dirty="0" smtClean="0"/>
              <a:t>	relationship</a:t>
            </a:r>
            <a:r>
              <a:rPr lang="en-US" sz="2000" dirty="0"/>
              <a:t/>
            </a:r>
            <a:br>
              <a:rPr lang="en-US" sz="2000" dirty="0"/>
            </a:br>
            <a:r>
              <a:rPr lang="en-US" sz="2000" dirty="0"/>
              <a:t>2. </a:t>
            </a:r>
            <a:r>
              <a:rPr lang="en-US" sz="2000" dirty="0" smtClean="0"/>
              <a:t>	while </a:t>
            </a:r>
            <a:r>
              <a:rPr lang="en-US" sz="2000" dirty="0"/>
              <a:t>a value less than zero signifies a negative relationship</a:t>
            </a:r>
            <a:br>
              <a:rPr lang="en-US" sz="2000" dirty="0"/>
            </a:br>
            <a:r>
              <a:rPr lang="en-US" sz="2000" dirty="0"/>
              <a:t>3. </a:t>
            </a:r>
            <a:r>
              <a:rPr lang="en-US" sz="2000" dirty="0" smtClean="0"/>
              <a:t>	and </a:t>
            </a:r>
            <a:r>
              <a:rPr lang="en-US" sz="2000" dirty="0"/>
              <a:t>a value of zero indicates </a:t>
            </a:r>
            <a:r>
              <a:rPr lang="en-US" sz="2000" dirty="0" smtClean="0"/>
              <a:t>no </a:t>
            </a:r>
            <a:r>
              <a:rPr lang="en-US" sz="2000" dirty="0"/>
              <a:t>relationship between the two </a:t>
            </a:r>
            <a:r>
              <a:rPr lang="en-US" sz="2000" dirty="0" smtClean="0"/>
              <a:t>variables </a:t>
            </a:r>
            <a:r>
              <a:rPr lang="en-US" sz="2000" dirty="0"/>
              <a:t>being </a:t>
            </a:r>
            <a:r>
              <a:rPr lang="en-US" sz="2000" dirty="0" smtClean="0"/>
              <a:t>compared.</a:t>
            </a:r>
          </a:p>
          <a:p>
            <a:pPr marL="0" indent="0">
              <a:buNone/>
            </a:pPr>
            <a:endParaRPr lang="en-US" sz="2000" dirty="0"/>
          </a:p>
          <a:p>
            <a:pPr marL="0" indent="0">
              <a:buNone/>
            </a:pP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9994" y="2502408"/>
            <a:ext cx="5906262" cy="2990512"/>
          </a:xfrm>
          <a:prstGeom prst="rect">
            <a:avLst/>
          </a:prstGeom>
        </p:spPr>
      </p:pic>
    </p:spTree>
    <p:extLst>
      <p:ext uri="{BB962C8B-B14F-4D97-AF65-F5344CB8AC3E}">
        <p14:creationId xmlns:p14="http://schemas.microsoft.com/office/powerpoint/2010/main" val="1258845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TotalTime>
  <Words>1656</Words>
  <Application>Microsoft Office PowerPoint</Application>
  <PresentationFormat>Widescreen</PresentationFormat>
  <Paragraphs>147</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Verdana</vt:lpstr>
      <vt:lpstr>Office Theme</vt:lpstr>
      <vt:lpstr>statistics</vt:lpstr>
      <vt:lpstr>What is statistics</vt:lpstr>
      <vt:lpstr>Developing Statistical Thinking</vt:lpstr>
      <vt:lpstr>PowerPoint Presentation</vt:lpstr>
      <vt:lpstr>Types of Statistics:</vt:lpstr>
      <vt:lpstr>PowerPoint Presentation</vt:lpstr>
      <vt:lpstr>PowerPoint Presentation</vt:lpstr>
      <vt:lpstr>PowerPoint Presentation</vt:lpstr>
      <vt:lpstr>PowerPoint Presentation</vt:lpstr>
      <vt:lpstr>PowerPoint Presentation</vt:lpstr>
      <vt:lpstr>PowerPoint Presentation</vt:lpstr>
      <vt:lpstr>Histogram</vt:lpstr>
      <vt:lpstr>PowerPoint Presentation</vt:lpstr>
      <vt:lpstr>Descriptive Statistics</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curtosis</vt:lpstr>
      <vt:lpstr>PowerPoint Presentation</vt:lpstr>
      <vt:lpstr>PowerPoint Presentation</vt:lpstr>
      <vt:lpstr>PowerPoint Presentation</vt:lpstr>
      <vt:lpstr>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dc:title>
  <dc:creator>creative</dc:creator>
  <cp:lastModifiedBy>1</cp:lastModifiedBy>
  <cp:revision>76</cp:revision>
  <dcterms:created xsi:type="dcterms:W3CDTF">2023-09-25T06:18:45Z</dcterms:created>
  <dcterms:modified xsi:type="dcterms:W3CDTF">2023-11-25T09:35:02Z</dcterms:modified>
</cp:coreProperties>
</file>